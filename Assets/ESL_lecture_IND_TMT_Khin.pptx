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1"/>
  </p:sldMasterIdLst>
  <p:notesMasterIdLst>
    <p:notesMasterId r:id="rId19"/>
  </p:notesMasterIdLst>
  <p:handoutMasterIdLst>
    <p:handoutMasterId r:id="rId20"/>
  </p:handoutMasterIdLst>
  <p:sldIdLst>
    <p:sldId id="591" r:id="rId2"/>
    <p:sldId id="574" r:id="rId3"/>
    <p:sldId id="600" r:id="rId4"/>
    <p:sldId id="577" r:id="rId5"/>
    <p:sldId id="621" r:id="rId6"/>
    <p:sldId id="601" r:id="rId7"/>
    <p:sldId id="620" r:id="rId8"/>
    <p:sldId id="605" r:id="rId9"/>
    <p:sldId id="615" r:id="rId10"/>
    <p:sldId id="617" r:id="rId11"/>
    <p:sldId id="618" r:id="rId12"/>
    <p:sldId id="602" r:id="rId13"/>
    <p:sldId id="604" r:id="rId14"/>
    <p:sldId id="608" r:id="rId15"/>
    <p:sldId id="609" r:id="rId16"/>
    <p:sldId id="581" r:id="rId17"/>
    <p:sldId id="619" r:id="rId18"/>
  </p:sldIdLst>
  <p:sldSz cx="9144000" cy="5143500" type="screen16x9"/>
  <p:notesSz cx="9872663" cy="67421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Standaardsectie" id="{E2989F40-5BAB-7A4B-881B-1202F189150B}">
          <p14:sldIdLst/>
        </p14:section>
        <p14:section name="Naamloze sectie" id="{41A11202-B434-534C-A77C-2BC5ED4882B2}">
          <p14:sldIdLst>
            <p14:sldId id="591"/>
            <p14:sldId id="574"/>
            <p14:sldId id="600"/>
            <p14:sldId id="577"/>
            <p14:sldId id="621"/>
            <p14:sldId id="601"/>
            <p14:sldId id="620"/>
            <p14:sldId id="605"/>
            <p14:sldId id="615"/>
            <p14:sldId id="617"/>
            <p14:sldId id="618"/>
            <p14:sldId id="602"/>
            <p14:sldId id="604"/>
            <p14:sldId id="608"/>
            <p14:sldId id="609"/>
            <p14:sldId id="581"/>
            <p14:sldId id="61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" initials="" lastIdx="4" clrIdx="0"/>
  <p:cmAuthor id="7" name="Gaetano Casale" initials="GC" lastIdx="8" clrIdx="7"/>
  <p:cmAuthor id="1" name="rachelle dwarka" initials="" lastIdx="2" clrIdx="1"/>
  <p:cmAuthor id="8" name="Khin Nawarat" initials="KN" lastIdx="1" clrIdx="8">
    <p:extLst>
      <p:ext uri="{19B8F6BF-5375-455C-9EA6-DF929625EA0E}">
        <p15:presenceInfo xmlns:p15="http://schemas.microsoft.com/office/powerpoint/2012/main" userId="S-1-5-21-633286589-1002725333-91453608-44071" providerId="AD"/>
      </p:ext>
    </p:extLst>
  </p:cmAuthor>
  <p:cmAuthor id="2" name="Laura Kwak" initials="" lastIdx="2" clrIdx="2"/>
  <p:cmAuthor id="3" name="Anonymous" initials="" lastIdx="1" clrIdx="3"/>
  <p:cmAuthor id="4" name="Ruth Webber" initials="RW" lastIdx="77" clrIdx="4"/>
  <p:cmAuthor id="5" name="Rachelle Dwarka" initials="RD" lastIdx="84" clrIdx="5"/>
  <p:cmAuthor id="6" name="Eddy Moors" initials="EM" lastIdx="22" clrIdx="6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11893"/>
    <a:srgbClr val="FF40FF"/>
    <a:srgbClr val="00D3AA"/>
    <a:srgbClr val="D5E9C9"/>
    <a:srgbClr val="EEC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D8C633D-4EBB-4C46-8BAD-E8A69D5AD927}">
  <a:tblStyle styleId="{9D8C633D-4EBB-4C46-8BAD-E8A69D5AD92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>
          <a:top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band1H>
    <a:band1V>
      <a:tcStyle>
        <a:tcBdr>
          <a:left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a:right>
        </a:tcBdr>
      </a:tcStyle>
    </a:band1V>
    <a:band2V>
      <a:tcStyle>
        <a:tcBdr>
          <a:left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5034" autoAdjust="0"/>
  </p:normalViewPr>
  <p:slideViewPr>
    <p:cSldViewPr snapToGrid="0">
      <p:cViewPr varScale="1">
        <p:scale>
          <a:sx n="162" d="100"/>
          <a:sy n="162" d="100"/>
        </p:scale>
        <p:origin x="744" y="184"/>
      </p:cViewPr>
      <p:guideLst>
        <p:guide orient="horz" pos="162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313" cy="338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92763" y="0"/>
            <a:ext cx="4278312" cy="338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1BDA78-1243-4376-BD94-E8DABF775429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03975"/>
            <a:ext cx="4278313" cy="338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92763" y="6403975"/>
            <a:ext cx="4278312" cy="338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CC321C-F653-42D7-9404-234466FBC0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261975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4278153" cy="337105"/>
          </a:xfrm>
          <a:prstGeom prst="rect">
            <a:avLst/>
          </a:prstGeom>
          <a:noFill/>
          <a:ln>
            <a:noFill/>
          </a:ln>
        </p:spPr>
        <p:txBody>
          <a:bodyPr lIns="87631" tIns="87631" rIns="87631" bIns="87631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38226" marR="0" lvl="1" indent="0" algn="l" rtl="0">
              <a:spcBef>
                <a:spcPts val="0"/>
              </a:spcBef>
              <a:spcAft>
                <a:spcPts val="0"/>
              </a:spcAft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876452" marR="0" lvl="2" indent="0" algn="l" rtl="0">
              <a:spcBef>
                <a:spcPts val="0"/>
              </a:spcBef>
              <a:spcAft>
                <a:spcPts val="0"/>
              </a:spcAft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14679" marR="0" lvl="3" indent="0" algn="l" rtl="0">
              <a:spcBef>
                <a:spcPts val="0"/>
              </a:spcBef>
              <a:spcAft>
                <a:spcPts val="0"/>
              </a:spcAft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752905" marR="0" lvl="4" indent="0" algn="l" rtl="0">
              <a:spcBef>
                <a:spcPts val="0"/>
              </a:spcBef>
              <a:spcAft>
                <a:spcPts val="0"/>
              </a:spcAft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191131" marR="0" lvl="5" indent="0" algn="l" rtl="0">
              <a:spcBef>
                <a:spcPts val="0"/>
              </a:spcBef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629357" marR="0" lvl="6" indent="0" algn="l" rtl="0">
              <a:spcBef>
                <a:spcPts val="0"/>
              </a:spcBef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067583" marR="0" lvl="7" indent="0" algn="l" rtl="0">
              <a:spcBef>
                <a:spcPts val="0"/>
              </a:spcBef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505810" marR="0" lvl="8" indent="0" algn="l" rtl="0">
              <a:spcBef>
                <a:spcPts val="0"/>
              </a:spcBef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5594509" y="0"/>
            <a:ext cx="4278153" cy="337105"/>
          </a:xfrm>
          <a:prstGeom prst="rect">
            <a:avLst/>
          </a:prstGeom>
          <a:noFill/>
          <a:ln>
            <a:noFill/>
          </a:ln>
        </p:spPr>
        <p:txBody>
          <a:bodyPr lIns="87631" tIns="87631" rIns="87631" bIns="87631" anchor="t" anchorCtr="0"/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38226" marR="0" lvl="1" indent="0" algn="l" rtl="0">
              <a:spcBef>
                <a:spcPts val="0"/>
              </a:spcBef>
              <a:spcAft>
                <a:spcPts val="0"/>
              </a:spcAft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876452" marR="0" lvl="2" indent="0" algn="l" rtl="0">
              <a:spcBef>
                <a:spcPts val="0"/>
              </a:spcBef>
              <a:spcAft>
                <a:spcPts val="0"/>
              </a:spcAft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14679" marR="0" lvl="3" indent="0" algn="l" rtl="0">
              <a:spcBef>
                <a:spcPts val="0"/>
              </a:spcBef>
              <a:spcAft>
                <a:spcPts val="0"/>
              </a:spcAft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752905" marR="0" lvl="4" indent="0" algn="l" rtl="0">
              <a:spcBef>
                <a:spcPts val="0"/>
              </a:spcBef>
              <a:spcAft>
                <a:spcPts val="0"/>
              </a:spcAft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191131" marR="0" lvl="5" indent="0" algn="l" rtl="0">
              <a:spcBef>
                <a:spcPts val="0"/>
              </a:spcBef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629357" marR="0" lvl="6" indent="0" algn="l" rtl="0">
              <a:spcBef>
                <a:spcPts val="0"/>
              </a:spcBef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067583" marR="0" lvl="7" indent="0" algn="l" rtl="0">
              <a:spcBef>
                <a:spcPts val="0"/>
              </a:spcBef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505810" marR="0" lvl="8" indent="0" algn="l" rtl="0">
              <a:spcBef>
                <a:spcPts val="0"/>
              </a:spcBef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2689225" y="504825"/>
            <a:ext cx="4494213" cy="25288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1316355" y="3202504"/>
            <a:ext cx="7239953" cy="3033951"/>
          </a:xfrm>
          <a:prstGeom prst="rect">
            <a:avLst/>
          </a:prstGeom>
          <a:noFill/>
          <a:ln>
            <a:noFill/>
          </a:ln>
        </p:spPr>
        <p:txBody>
          <a:bodyPr lIns="87631" tIns="87631" rIns="87631" bIns="87631" anchor="t" anchorCtr="0"/>
          <a:lstStyle>
            <a:lvl1pPr marL="0" marR="0" lvl="0" indent="0" algn="l" rtl="0">
              <a:spcBef>
                <a:spcPts val="36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36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36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36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36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6405007"/>
            <a:ext cx="4278153" cy="337105"/>
          </a:xfrm>
          <a:prstGeom prst="rect">
            <a:avLst/>
          </a:prstGeom>
          <a:noFill/>
          <a:ln>
            <a:noFill/>
          </a:ln>
        </p:spPr>
        <p:txBody>
          <a:bodyPr lIns="87631" tIns="87631" rIns="87631" bIns="87631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38226" marR="0" lvl="1" indent="0" algn="l" rtl="0">
              <a:spcBef>
                <a:spcPts val="0"/>
              </a:spcBef>
              <a:spcAft>
                <a:spcPts val="0"/>
              </a:spcAft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876452" marR="0" lvl="2" indent="0" algn="l" rtl="0">
              <a:spcBef>
                <a:spcPts val="0"/>
              </a:spcBef>
              <a:spcAft>
                <a:spcPts val="0"/>
              </a:spcAft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14679" marR="0" lvl="3" indent="0" algn="l" rtl="0">
              <a:spcBef>
                <a:spcPts val="0"/>
              </a:spcBef>
              <a:spcAft>
                <a:spcPts val="0"/>
              </a:spcAft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752905" marR="0" lvl="4" indent="0" algn="l" rtl="0">
              <a:spcBef>
                <a:spcPts val="0"/>
              </a:spcBef>
              <a:spcAft>
                <a:spcPts val="0"/>
              </a:spcAft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191131" marR="0" lvl="5" indent="0" algn="l" rtl="0">
              <a:spcBef>
                <a:spcPts val="0"/>
              </a:spcBef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629357" marR="0" lvl="6" indent="0" algn="l" rtl="0">
              <a:spcBef>
                <a:spcPts val="0"/>
              </a:spcBef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067583" marR="0" lvl="7" indent="0" algn="l" rtl="0">
              <a:spcBef>
                <a:spcPts val="0"/>
              </a:spcBef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505810" marR="0" lvl="8" indent="0" algn="l" rtl="0">
              <a:spcBef>
                <a:spcPts val="0"/>
              </a:spcBef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5594509" y="6405007"/>
            <a:ext cx="4278153" cy="337105"/>
          </a:xfrm>
          <a:prstGeom prst="rect">
            <a:avLst/>
          </a:prstGeom>
          <a:noFill/>
          <a:ln>
            <a:noFill/>
          </a:ln>
        </p:spPr>
        <p:txBody>
          <a:bodyPr lIns="94915" tIns="47446" rIns="94915" bIns="47446" anchor="b" anchorCtr="0">
            <a:noAutofit/>
          </a:bodyPr>
          <a:lstStyle/>
          <a:p>
            <a:pPr algn="r">
              <a:buSzPct val="25000"/>
            </a:pPr>
            <a:fld id="{00000000-1234-1234-1234-123412341234}" type="slidenum">
              <a:rPr lang="en-GB" sz="1200" smtClean="0">
                <a:solidFill>
                  <a:schemeClr val="dk1"/>
                </a:solidFill>
              </a:rPr>
              <a:pPr algn="r">
                <a:buSzPct val="25000"/>
              </a:pPr>
              <a:t>‹#›</a:t>
            </a:fld>
            <a:endParaRPr lang="en-GB"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2651779"/>
      </p:ext>
    </p:extLst>
  </p:cSld>
  <p:clrMap bg1="lt1" tx1="dk1" bg2="dk2" tx2="lt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4570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47670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84098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57403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54809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18054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13376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61186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71278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23513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68922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46595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79770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84227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2879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twitter.com/unescoihe" TargetMode="External"/><Relationship Id="rId7" Type="http://schemas.openxmlformats.org/officeDocument/2006/relationships/hyperlink" Target="https://www.linkedin.com/company/unesco-ihe" TargetMode="External"/><Relationship Id="rId12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11" Type="http://schemas.openxmlformats.org/officeDocument/2006/relationships/image" Target="../media/image7.png"/><Relationship Id="rId5" Type="http://schemas.openxmlformats.org/officeDocument/2006/relationships/hyperlink" Target="https://www.youtube.com/user/unescoihe" TargetMode="Externa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hyperlink" Target="https://www.facebook.com/UnescoIHE" TargetMode="Externa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-titl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11129" y="4965"/>
            <a:ext cx="9153144" cy="15636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-image-tex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4786101"/>
            <a:ext cx="1169289" cy="236601"/>
          </a:xfrm>
          <a:prstGeom prst="rect">
            <a:avLst/>
          </a:prstGeom>
        </p:spPr>
      </p:pic>
      <p:sp>
        <p:nvSpPr>
          <p:cNvPr id="13" name="Shape 21"/>
          <p:cNvSpPr txBox="1">
            <a:spLocks noGrp="1"/>
          </p:cNvSpPr>
          <p:nvPr>
            <p:ph type="body" idx="2" hasCustomPrompt="1"/>
          </p:nvPr>
        </p:nvSpPr>
        <p:spPr>
          <a:xfrm>
            <a:off x="360000" y="357265"/>
            <a:ext cx="2915856" cy="54030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lIns="91425" tIns="90000" rIns="91425" bIns="91425" anchor="t" anchorCtr="0"/>
          <a:lstStyle>
            <a:lvl1pPr marL="92072" marR="0" lvl="0" indent="0" algn="l" rtl="0">
              <a:spcBef>
                <a:spcPts val="0"/>
              </a:spcBef>
              <a:buClr>
                <a:srgbClr val="FFFFFF"/>
              </a:buClr>
              <a:buSzPct val="25000"/>
              <a:buFont typeface="Arial"/>
              <a:buNone/>
              <a:tabLst/>
              <a:defRPr sz="2400" b="1" i="0" u="none" strike="noStrike" cap="none" baseline="0">
                <a:solidFill>
                  <a:schemeClr val="bg1"/>
                </a:solidFill>
                <a:latin typeface="arial" charset="0"/>
                <a:ea typeface="Times New Roman"/>
                <a:cs typeface="Times New Roman"/>
                <a:sym typeface="Times New Roman"/>
              </a:defRPr>
            </a:lvl1pPr>
            <a:lvl2pPr marL="611970" marR="0" lvl="1" indent="-18019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71952" marR="0" lvl="2" indent="-209988" algn="l" rtl="0">
              <a:spcBef>
                <a:spcPts val="360"/>
              </a:spcBef>
              <a:buClr>
                <a:schemeClr val="dk1"/>
              </a:buClr>
              <a:buSzPct val="100000"/>
              <a:buFont typeface="Merriweather Sans"/>
              <a:buChar char="-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120" marR="0" lvl="3" indent="-126994" algn="l" rtl="0">
              <a:spcBef>
                <a:spcPts val="320"/>
              </a:spcBef>
              <a:buClr>
                <a:schemeClr val="dk1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298" marR="0" lvl="4" indent="-126994" algn="l" rtl="0">
              <a:spcBef>
                <a:spcPts val="320"/>
              </a:spcBef>
              <a:buClr>
                <a:schemeClr val="dk1"/>
              </a:buClr>
              <a:buSzPct val="1000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474" marR="0" lvl="5" indent="-101595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652" marR="0" lvl="6" indent="-101595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8829" marR="0" lvl="7" indent="-101595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006" marR="0" lvl="8" indent="-101595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spcBef>
                <a:spcPts val="0"/>
              </a:spcBef>
              <a:buSzPct val="25000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IHE Delft - Vision </a:t>
            </a:r>
          </a:p>
        </p:txBody>
      </p:sp>
      <p:cxnSp>
        <p:nvCxnSpPr>
          <p:cNvPr id="6" name="Rechte verbindingslijn 5"/>
          <p:cNvCxnSpPr/>
          <p:nvPr userDrawn="1"/>
        </p:nvCxnSpPr>
        <p:spPr>
          <a:xfrm>
            <a:off x="360000" y="4630500"/>
            <a:ext cx="8352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-full tex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body" idx="2" hasCustomPrompt="1"/>
          </p:nvPr>
        </p:nvSpPr>
        <p:spPr>
          <a:xfrm>
            <a:off x="360000" y="357265"/>
            <a:ext cx="2267784" cy="54030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lIns="91425" tIns="90000" rIns="91425" bIns="91425" anchor="t" anchorCtr="0"/>
          <a:lstStyle>
            <a:lvl1pPr marL="92072" marR="0" lvl="0" indent="0" algn="l" rtl="0">
              <a:spcBef>
                <a:spcPts val="0"/>
              </a:spcBef>
              <a:buClr>
                <a:srgbClr val="FFFFFF"/>
              </a:buClr>
              <a:buSzPct val="25000"/>
              <a:buFont typeface="Arial"/>
              <a:buNone/>
              <a:tabLst/>
              <a:defRPr sz="2400" b="1" i="0" u="none" strike="noStrike" cap="none" baseline="0">
                <a:solidFill>
                  <a:srgbClr val="FFFFFF"/>
                </a:solidFill>
                <a:latin typeface="arial" charset="0"/>
                <a:ea typeface="Times New Roman"/>
                <a:cs typeface="Times New Roman"/>
                <a:sym typeface="Times New Roman"/>
              </a:defRPr>
            </a:lvl1pPr>
            <a:lvl2pPr marL="611970" marR="0" lvl="1" indent="-18019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71952" marR="0" lvl="2" indent="-209988" algn="l" rtl="0">
              <a:spcBef>
                <a:spcPts val="360"/>
              </a:spcBef>
              <a:buClr>
                <a:schemeClr val="dk1"/>
              </a:buClr>
              <a:buSzPct val="100000"/>
              <a:buFont typeface="Merriweather Sans"/>
              <a:buChar char="-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120" marR="0" lvl="3" indent="-126994" algn="l" rtl="0">
              <a:spcBef>
                <a:spcPts val="320"/>
              </a:spcBef>
              <a:buClr>
                <a:schemeClr val="dk1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298" marR="0" lvl="4" indent="-126994" algn="l" rtl="0">
              <a:spcBef>
                <a:spcPts val="320"/>
              </a:spcBef>
              <a:buClr>
                <a:schemeClr val="dk1"/>
              </a:buClr>
              <a:buSzPct val="1000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474" marR="0" lvl="5" indent="-101595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652" marR="0" lvl="6" indent="-101595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8829" marR="0" lvl="7" indent="-101595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006" marR="0" lvl="8" indent="-101595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spcBef>
                <a:spcPts val="0"/>
              </a:spcBef>
              <a:buSzPct val="25000"/>
            </a:pPr>
            <a:r>
              <a:rPr lang="nl-NL">
                <a:latin typeface="Arial"/>
                <a:ea typeface="Arial"/>
                <a:cs typeface="Arial"/>
                <a:sym typeface="Arial"/>
              </a:rPr>
              <a:t>Partnerships</a:t>
            </a:r>
            <a:endParaRPr lang="en-GB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4786101"/>
            <a:ext cx="1169289" cy="236601"/>
          </a:xfrm>
          <a:prstGeom prst="rect">
            <a:avLst/>
          </a:prstGeom>
        </p:spPr>
      </p:pic>
      <p:cxnSp>
        <p:nvCxnSpPr>
          <p:cNvPr id="7" name="Rechte verbindingslijn 6"/>
          <p:cNvCxnSpPr/>
          <p:nvPr userDrawn="1"/>
        </p:nvCxnSpPr>
        <p:spPr>
          <a:xfrm>
            <a:off x="360000" y="4630500"/>
            <a:ext cx="8352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-text-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hoek 2"/>
          <p:cNvSpPr/>
          <p:nvPr userDrawn="1"/>
        </p:nvSpPr>
        <p:spPr>
          <a:xfrm>
            <a:off x="360000" y="681540"/>
            <a:ext cx="8352000" cy="39489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1400"/>
          </a:p>
        </p:txBody>
      </p:sp>
      <p:sp>
        <p:nvSpPr>
          <p:cNvPr id="4" name="Shape 21"/>
          <p:cNvSpPr txBox="1">
            <a:spLocks noGrp="1"/>
          </p:cNvSpPr>
          <p:nvPr>
            <p:ph type="body" idx="2" hasCustomPrompt="1"/>
          </p:nvPr>
        </p:nvSpPr>
        <p:spPr>
          <a:xfrm>
            <a:off x="360000" y="357265"/>
            <a:ext cx="2267784" cy="54030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lIns="91425" tIns="90000" rIns="91425" bIns="90000" anchor="t" anchorCtr="0"/>
          <a:lstStyle>
            <a:lvl1pPr marL="92072" marR="0" lvl="0" indent="0" algn="l" rtl="0">
              <a:spcBef>
                <a:spcPts val="0"/>
              </a:spcBef>
              <a:buClr>
                <a:srgbClr val="FFFFFF"/>
              </a:buClr>
              <a:buSzPct val="25000"/>
              <a:buFont typeface="Arial"/>
              <a:buNone/>
              <a:tabLst/>
              <a:defRPr sz="2400" b="1" i="0" u="none" strike="noStrike" cap="none" baseline="0">
                <a:solidFill>
                  <a:srgbClr val="FFFFFF"/>
                </a:solidFill>
                <a:latin typeface="arial" charset="0"/>
                <a:ea typeface="Times New Roman"/>
                <a:cs typeface="Times New Roman"/>
                <a:sym typeface="Times New Roman"/>
              </a:defRPr>
            </a:lvl1pPr>
            <a:lvl2pPr marL="611970" marR="0" lvl="1" indent="-18019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71952" marR="0" lvl="2" indent="-209988" algn="l" rtl="0">
              <a:spcBef>
                <a:spcPts val="360"/>
              </a:spcBef>
              <a:buClr>
                <a:schemeClr val="dk1"/>
              </a:buClr>
              <a:buSzPct val="100000"/>
              <a:buFont typeface="Merriweather Sans"/>
              <a:buChar char="-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120" marR="0" lvl="3" indent="-126994" algn="l" rtl="0">
              <a:spcBef>
                <a:spcPts val="320"/>
              </a:spcBef>
              <a:buClr>
                <a:schemeClr val="dk1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298" marR="0" lvl="4" indent="-126994" algn="l" rtl="0">
              <a:spcBef>
                <a:spcPts val="320"/>
              </a:spcBef>
              <a:buClr>
                <a:schemeClr val="dk1"/>
              </a:buClr>
              <a:buSzPct val="1000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474" marR="0" lvl="5" indent="-101595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652" marR="0" lvl="6" indent="-101595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8829" marR="0" lvl="7" indent="-101595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006" marR="0" lvl="8" indent="-101595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spcBef>
                <a:spcPts val="0"/>
              </a:spcBef>
              <a:buSzPct val="25000"/>
            </a:pPr>
            <a:r>
              <a:rPr lang="nl-NL">
                <a:latin typeface="Arial"/>
                <a:ea typeface="Arial"/>
                <a:cs typeface="Arial"/>
                <a:sym typeface="Arial"/>
              </a:rPr>
              <a:t>Partnerships</a:t>
            </a:r>
            <a:endParaRPr lang="en-GB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4786101"/>
            <a:ext cx="1169289" cy="236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422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4786101"/>
            <a:ext cx="1169289" cy="236601"/>
          </a:xfrm>
          <a:prstGeom prst="rect">
            <a:avLst/>
          </a:prstGeom>
        </p:spPr>
      </p:pic>
      <p:sp>
        <p:nvSpPr>
          <p:cNvPr id="9" name="Rechthoek 8"/>
          <p:cNvSpPr/>
          <p:nvPr userDrawn="1"/>
        </p:nvSpPr>
        <p:spPr>
          <a:xfrm>
            <a:off x="755576" y="789552"/>
            <a:ext cx="7452360" cy="318635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1400"/>
          </a:p>
        </p:txBody>
      </p:sp>
      <p:cxnSp>
        <p:nvCxnSpPr>
          <p:cNvPr id="8" name="Rechte verbindingslijn 7"/>
          <p:cNvCxnSpPr/>
          <p:nvPr userDrawn="1"/>
        </p:nvCxnSpPr>
        <p:spPr>
          <a:xfrm>
            <a:off x="360000" y="4630500"/>
            <a:ext cx="8352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e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 userDrawn="1"/>
        </p:nvSpPr>
        <p:spPr>
          <a:xfrm>
            <a:off x="360000" y="573528"/>
            <a:ext cx="8316456" cy="4050450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1400"/>
          </a:p>
        </p:txBody>
      </p:sp>
      <p:sp>
        <p:nvSpPr>
          <p:cNvPr id="9" name="Shape 21"/>
          <p:cNvSpPr txBox="1">
            <a:spLocks noGrp="1"/>
          </p:cNvSpPr>
          <p:nvPr>
            <p:ph type="body" idx="2" hasCustomPrompt="1"/>
          </p:nvPr>
        </p:nvSpPr>
        <p:spPr>
          <a:xfrm>
            <a:off x="360000" y="357265"/>
            <a:ext cx="1475696" cy="54030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lIns="91425" tIns="90000" rIns="91425" bIns="90000" anchor="t" anchorCtr="0"/>
          <a:lstStyle>
            <a:lvl1pPr marL="92072" marR="0" lvl="0" indent="0" algn="l" rtl="0">
              <a:spcBef>
                <a:spcPts val="0"/>
              </a:spcBef>
              <a:buClr>
                <a:srgbClr val="FFFFFF"/>
              </a:buClr>
              <a:buSzPct val="25000"/>
              <a:buFont typeface="Arial"/>
              <a:buNone/>
              <a:tabLst/>
              <a:defRPr sz="2400" b="1" i="0" u="none" strike="noStrike" cap="none" baseline="0">
                <a:solidFill>
                  <a:srgbClr val="FFFFFF"/>
                </a:solidFill>
                <a:latin typeface="arial" charset="0"/>
                <a:ea typeface="Times New Roman"/>
                <a:cs typeface="Times New Roman"/>
                <a:sym typeface="Times New Roman"/>
              </a:defRPr>
            </a:lvl1pPr>
            <a:lvl2pPr marL="611970" marR="0" lvl="1" indent="-18019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71952" marR="0" lvl="2" indent="-209988" algn="l" rtl="0">
              <a:spcBef>
                <a:spcPts val="360"/>
              </a:spcBef>
              <a:buClr>
                <a:schemeClr val="dk1"/>
              </a:buClr>
              <a:buSzPct val="100000"/>
              <a:buFont typeface="Merriweather Sans"/>
              <a:buChar char="-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120" marR="0" lvl="3" indent="-126994" algn="l" rtl="0">
              <a:spcBef>
                <a:spcPts val="320"/>
              </a:spcBef>
              <a:buClr>
                <a:schemeClr val="dk1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298" marR="0" lvl="4" indent="-126994" algn="l" rtl="0">
              <a:spcBef>
                <a:spcPts val="320"/>
              </a:spcBef>
              <a:buClr>
                <a:schemeClr val="dk1"/>
              </a:buClr>
              <a:buSzPct val="1000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474" marR="0" lvl="5" indent="-101595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652" marR="0" lvl="6" indent="-101595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8829" marR="0" lvl="7" indent="-101595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006" marR="0" lvl="8" indent="-101595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spcBef>
                <a:spcPts val="0"/>
              </a:spcBef>
              <a:buSzPct val="25000"/>
            </a:pPr>
            <a:r>
              <a:rPr lang="nl-NL" err="1">
                <a:latin typeface="Arial"/>
                <a:ea typeface="Arial"/>
                <a:cs typeface="Arial"/>
                <a:sym typeface="Arial"/>
              </a:rPr>
              <a:t>Figures</a:t>
            </a:r>
            <a:endParaRPr lang="en-GB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4786101"/>
            <a:ext cx="1169289" cy="2366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-log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4466661"/>
            <a:ext cx="2122043" cy="429387"/>
          </a:xfrm>
          <a:prstGeom prst="rect">
            <a:avLst/>
          </a:prstGeom>
        </p:spPr>
      </p:pic>
      <p:pic>
        <p:nvPicPr>
          <p:cNvPr id="11" name="Shape 43">
            <a:hlinkClick r:id="rId3"/>
          </p:cNvPr>
          <p:cNvPicPr preferRelativeResize="0"/>
          <p:nvPr userDrawn="1"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48264" y="4466661"/>
            <a:ext cx="383888" cy="369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Shape 44">
            <a:hlinkClick r:id="rId5"/>
          </p:cNvPr>
          <p:cNvPicPr preferRelativeResize="0"/>
          <p:nvPr userDrawn="1"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475318" y="4522034"/>
            <a:ext cx="278908" cy="2789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Shape 45">
            <a:hlinkClick r:id="rId7"/>
          </p:cNvPr>
          <p:cNvPicPr preferRelativeResize="0"/>
          <p:nvPr userDrawn="1"/>
        </p:nvPicPr>
        <p:blipFill rotWithShape="1"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64281" y="4533315"/>
            <a:ext cx="278908" cy="2789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Shape 46">
            <a:hlinkClick r:id="rId9"/>
          </p:cNvPr>
          <p:cNvPicPr preferRelativeResize="0"/>
          <p:nvPr userDrawn="1"/>
        </p:nvPicPr>
        <p:blipFill rotWithShape="1">
          <a:blip r:embed="rId10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80312" y="4533315"/>
            <a:ext cx="278908" cy="2789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2"/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23982" y="4540550"/>
            <a:ext cx="264442" cy="264442"/>
          </a:xfrm>
          <a:prstGeom prst="rect">
            <a:avLst/>
          </a:prstGeom>
        </p:spPr>
      </p:pic>
      <p:pic>
        <p:nvPicPr>
          <p:cNvPr id="16" name="Picture 1"/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77332" y="4155926"/>
            <a:ext cx="822772" cy="833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104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8" userDrawn="1">
          <p15:clr>
            <a:srgbClr val="FBAE40"/>
          </p15:clr>
        </p15:guide>
        <p15:guide id="2" pos="24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40000" y="1249872"/>
            <a:ext cx="7830000" cy="3346987"/>
          </a:xfrm>
        </p:spPr>
        <p:txBody>
          <a:bodyPr>
            <a:noAutofit/>
          </a:bodyPr>
          <a:lstStyle>
            <a:lvl1pPr marL="189000" indent="-189000">
              <a:lnSpc>
                <a:spcPct val="100000"/>
              </a:lnSpc>
              <a:spcBef>
                <a:spcPts val="900"/>
              </a:spcBef>
              <a:buFont typeface="Wingdings" panose="05000000000000000000" pitchFamily="2" charset="2"/>
              <a:buChar char="§"/>
              <a:defRPr sz="1800">
                <a:solidFill>
                  <a:srgbClr val="000020"/>
                </a:solidFill>
              </a:defRPr>
            </a:lvl1pPr>
            <a:lvl2pPr marL="378000" indent="-189000">
              <a:lnSpc>
                <a:spcPct val="100000"/>
              </a:lnSpc>
              <a:spcBef>
                <a:spcPts val="300"/>
              </a:spcBef>
              <a:buSzPct val="80000"/>
              <a:buFont typeface="Courier New" panose="02070309020205020404" pitchFamily="49" charset="0"/>
              <a:buChar char="o"/>
              <a:defRPr sz="1650">
                <a:solidFill>
                  <a:srgbClr val="404040"/>
                </a:solidFill>
              </a:defRPr>
            </a:lvl2pPr>
            <a:lvl3pPr marL="567000" indent="-1890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650">
                <a:solidFill>
                  <a:srgbClr val="404040"/>
                </a:solidFill>
              </a:defRPr>
            </a:lvl3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8A3DC32-DDAC-44BC-9317-F17D985CE6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00" y="4806000"/>
            <a:ext cx="1190272" cy="240847"/>
          </a:xfrm>
          <a:prstGeom prst="rect">
            <a:avLst/>
          </a:prstGeom>
        </p:spPr>
      </p:pic>
      <p:cxnSp>
        <p:nvCxnSpPr>
          <p:cNvPr id="8" name="Rechte verbindingslijn 5">
            <a:extLst>
              <a:ext uri="{FF2B5EF4-FFF2-40B4-BE49-F238E27FC236}">
                <a16:creationId xmlns:a16="http://schemas.microsoft.com/office/drawing/2014/main" id="{7C434F77-CA67-4668-9F85-50229FE7AEBE}"/>
              </a:ext>
            </a:extLst>
          </p:cNvPr>
          <p:cNvCxnSpPr>
            <a:cxnSpLocks/>
          </p:cNvCxnSpPr>
          <p:nvPr userDrawn="1"/>
        </p:nvCxnSpPr>
        <p:spPr>
          <a:xfrm>
            <a:off x="405000" y="4725000"/>
            <a:ext cx="8100000" cy="0"/>
          </a:xfrm>
          <a:prstGeom prst="line">
            <a:avLst/>
          </a:prstGeom>
          <a:ln w="31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FF86B0D6-3BFE-4256-A8A1-3003C599FAE3}"/>
              </a:ext>
            </a:extLst>
          </p:cNvPr>
          <p:cNvSpPr/>
          <p:nvPr userDrawn="1"/>
        </p:nvSpPr>
        <p:spPr>
          <a:xfrm>
            <a:off x="8124175" y="4806001"/>
            <a:ext cx="299825" cy="216110"/>
          </a:xfrm>
          <a:prstGeom prst="rect">
            <a:avLst/>
          </a:prstGeom>
        </p:spPr>
        <p:txBody>
          <a:bodyPr wrap="square" lIns="135000" tIns="27000" rIns="0" bIns="27000">
            <a:spAutoFit/>
          </a:bodyPr>
          <a:lstStyle/>
          <a:p>
            <a:pPr algn="r"/>
            <a:fld id="{60B7A486-2C06-4671-ACD8-ED7893B19842}" type="slidenum">
              <a:rPr lang="en-GB" sz="1050" smtClean="0">
                <a:solidFill>
                  <a:srgbClr val="00B0F0"/>
                </a:solidFill>
              </a:rPr>
              <a:pPr algn="r"/>
              <a:t>‹#›</a:t>
            </a:fld>
            <a:endParaRPr lang="en-GB" sz="900">
              <a:solidFill>
                <a:srgbClr val="00B0F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2F29F05-863E-4494-A22E-3DE6116597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270000"/>
            <a:ext cx="7830000" cy="540000"/>
          </a:xfrm>
          <a:noFill/>
        </p:spPr>
        <p:txBody>
          <a:bodyPr wrap="square" anchor="t" anchorCtr="0">
            <a:noAutofit/>
          </a:bodyPr>
          <a:lstStyle>
            <a:lvl1pPr>
              <a:lnSpc>
                <a:spcPct val="100000"/>
              </a:lnSpc>
              <a:defRPr sz="2700" b="1" baseline="0">
                <a:solidFill>
                  <a:srgbClr val="009FE3"/>
                </a:solidFill>
              </a:defRPr>
            </a:lvl1pPr>
          </a:lstStyle>
          <a:p>
            <a:r>
              <a:rPr lang="en-GB" noProof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2866406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882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504000" y="37800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504000" y="1215003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2000" marR="0" lvl="0" indent="-1377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12000" marR="0" lvl="1" indent="-1802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72000" marR="0" lvl="2" indent="-209999" algn="l" rtl="0">
              <a:spcBef>
                <a:spcPts val="360"/>
              </a:spcBef>
              <a:buClr>
                <a:schemeClr val="dk1"/>
              </a:buClr>
              <a:buSzPct val="100000"/>
              <a:buFont typeface="Merriweather Sans"/>
              <a:buChar char="-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27000" algn="l" rtl="0">
              <a:spcBef>
                <a:spcPts val="320"/>
              </a:spcBef>
              <a:buClr>
                <a:schemeClr val="dk1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27000" algn="l" rtl="0">
              <a:spcBef>
                <a:spcPts val="320"/>
              </a:spcBef>
              <a:buClr>
                <a:schemeClr val="dk1"/>
              </a:buClr>
              <a:buSzPct val="1000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0" r:id="rId2"/>
    <p:sldLayoutId id="2147483649" r:id="rId3"/>
    <p:sldLayoutId id="2147483659" r:id="rId4"/>
    <p:sldLayoutId id="2147483656" r:id="rId5"/>
    <p:sldLayoutId id="2147483657" r:id="rId6"/>
    <p:sldLayoutId id="2147483658" r:id="rId7"/>
    <p:sldLayoutId id="2147483660" r:id="rId8"/>
    <p:sldLayoutId id="2147483661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9"/>
          <p:cNvSpPr/>
          <p:nvPr/>
        </p:nvSpPr>
        <p:spPr>
          <a:xfrm>
            <a:off x="1331640" y="2931692"/>
            <a:ext cx="7344817" cy="187230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</a:endParaRPr>
          </a:p>
        </p:txBody>
      </p:sp>
      <p:sp>
        <p:nvSpPr>
          <p:cNvPr id="4" name="Shape 29"/>
          <p:cNvSpPr/>
          <p:nvPr/>
        </p:nvSpPr>
        <p:spPr>
          <a:xfrm>
            <a:off x="395536" y="1707654"/>
            <a:ext cx="6768752" cy="1800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</a:endParaRPr>
          </a:p>
        </p:txBody>
      </p:sp>
      <p:sp>
        <p:nvSpPr>
          <p:cNvPr id="5" name="Shape 30"/>
          <p:cNvSpPr txBox="1"/>
          <p:nvPr/>
        </p:nvSpPr>
        <p:spPr>
          <a:xfrm>
            <a:off x="523147" y="1704924"/>
            <a:ext cx="7630098" cy="12240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>
              <a:lnSpc>
                <a:spcPct val="50000"/>
              </a:lnSpc>
              <a:buSzPct val="25000"/>
            </a:pPr>
            <a:endParaRPr lang="en-GB" sz="3500" b="1" dirty="0">
              <a:solidFill>
                <a:schemeClr val="lt1"/>
              </a:solidFill>
            </a:endParaRPr>
          </a:p>
          <a:p>
            <a:pPr>
              <a:lnSpc>
                <a:spcPct val="50000"/>
              </a:lnSpc>
            </a:pPr>
            <a:r>
              <a:rPr lang="en-GB" sz="3500" b="1" dirty="0">
                <a:solidFill>
                  <a:schemeClr val="lt1"/>
                </a:solidFill>
              </a:rPr>
              <a:t>Impact of climate change on</a:t>
            </a:r>
          </a:p>
          <a:p>
            <a:pPr>
              <a:lnSpc>
                <a:spcPct val="50000"/>
              </a:lnSpc>
            </a:pPr>
            <a:endParaRPr lang="en-GB" sz="3500" b="1" dirty="0">
              <a:solidFill>
                <a:schemeClr val="lt1"/>
              </a:solidFill>
            </a:endParaRPr>
          </a:p>
          <a:p>
            <a:pPr>
              <a:lnSpc>
                <a:spcPct val="50000"/>
              </a:lnSpc>
            </a:pPr>
            <a:r>
              <a:rPr lang="en-GB" sz="3500" b="1" dirty="0">
                <a:solidFill>
                  <a:schemeClr val="lt1"/>
                </a:solidFill>
              </a:rPr>
              <a:t>Extreme Sea Levels</a:t>
            </a:r>
            <a:endParaRPr lang="en-GB" dirty="0">
              <a:solidFill>
                <a:schemeClr val="lt1"/>
              </a:solidFill>
            </a:endParaRPr>
          </a:p>
          <a:p>
            <a:pPr>
              <a:lnSpc>
                <a:spcPct val="50000"/>
              </a:lnSpc>
            </a:pPr>
            <a:endParaRPr lang="en-GB" sz="3500" b="1" dirty="0">
              <a:solidFill>
                <a:schemeClr val="lt1"/>
              </a:solidFill>
            </a:endParaRPr>
          </a:p>
          <a:p>
            <a:pPr>
              <a:lnSpc>
                <a:spcPct val="50000"/>
              </a:lnSpc>
            </a:pPr>
            <a:endParaRPr lang="en-GB" sz="3500" b="1" dirty="0">
              <a:solidFill>
                <a:schemeClr val="lt1"/>
              </a:solidFill>
            </a:endParaRPr>
          </a:p>
          <a:p>
            <a:pPr>
              <a:lnSpc>
                <a:spcPct val="50000"/>
              </a:lnSpc>
              <a:spcBef>
                <a:spcPts val="1800"/>
              </a:spcBef>
              <a:buSzPct val="25000"/>
            </a:pPr>
            <a:endParaRPr lang="en-GB" sz="5000" b="1" dirty="0">
              <a:solidFill>
                <a:schemeClr val="l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30DF30-BA72-AEF2-7BAB-1CF2032ED222}"/>
              </a:ext>
            </a:extLst>
          </p:cNvPr>
          <p:cNvSpPr txBox="1"/>
          <p:nvPr/>
        </p:nvSpPr>
        <p:spPr>
          <a:xfrm>
            <a:off x="4416055" y="4003780"/>
            <a:ext cx="4202957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Khin Nawarat</a:t>
            </a:r>
          </a:p>
          <a:p>
            <a:r>
              <a:rPr lang="en-US" dirty="0">
                <a:solidFill>
                  <a:schemeClr val="bg1"/>
                </a:solidFill>
              </a:rPr>
              <a:t>PhD candidate</a:t>
            </a:r>
          </a:p>
          <a:p>
            <a:r>
              <a:rPr lang="en-US" dirty="0">
                <a:solidFill>
                  <a:schemeClr val="bg1"/>
                </a:solidFill>
              </a:rPr>
              <a:t>Coastal and Urban Risk &amp; Resilience Department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95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">
            <a:extLst>
              <a:ext uri="{FF2B5EF4-FFF2-40B4-BE49-F238E27FC236}">
                <a16:creationId xmlns:a16="http://schemas.microsoft.com/office/drawing/2014/main" id="{98ADEB4B-1E20-2AFD-58F2-C30F13094D76}"/>
              </a:ext>
            </a:extLst>
          </p:cNvPr>
          <p:cNvSpPr txBox="1"/>
          <p:nvPr/>
        </p:nvSpPr>
        <p:spPr>
          <a:xfrm>
            <a:off x="4499126" y="1592849"/>
            <a:ext cx="3979110" cy="418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667"/>
              </a:lnSpc>
            </a:pPr>
            <a:r>
              <a:rPr lang="en-US" sz="1833" dirty="0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What is the driver of coastal flooding?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CE94FA8C-2AD4-A9E1-51B2-A72A726D8A11}"/>
              </a:ext>
            </a:extLst>
          </p:cNvPr>
          <p:cNvGrpSpPr/>
          <p:nvPr/>
        </p:nvGrpSpPr>
        <p:grpSpPr>
          <a:xfrm>
            <a:off x="3907350" y="1641715"/>
            <a:ext cx="463705" cy="463705"/>
            <a:chOff x="0" y="0"/>
            <a:chExt cx="812800" cy="812800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9CEACF4A-2E1E-5C78-953E-2F87DC358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6">
              <a:extLst>
                <a:ext uri="{FF2B5EF4-FFF2-40B4-BE49-F238E27FC236}">
                  <a16:creationId xmlns:a16="http://schemas.microsoft.com/office/drawing/2014/main" id="{721BF7AB-2404-71D0-F63B-1A9BD3F681D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6684" tIns="26684" rIns="26684" bIns="26684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30"/>
                </a:lnSpc>
              </a:pPr>
              <a:endParaRPr sz="450"/>
            </a:p>
          </p:txBody>
        </p:sp>
      </p:grpSp>
      <p:sp>
        <p:nvSpPr>
          <p:cNvPr id="13" name="TextBox 7">
            <a:extLst>
              <a:ext uri="{FF2B5EF4-FFF2-40B4-BE49-F238E27FC236}">
                <a16:creationId xmlns:a16="http://schemas.microsoft.com/office/drawing/2014/main" id="{307CFAE6-6659-01A3-D7C8-DA651E8C0D03}"/>
              </a:ext>
            </a:extLst>
          </p:cNvPr>
          <p:cNvSpPr txBox="1"/>
          <p:nvPr/>
        </p:nvSpPr>
        <p:spPr>
          <a:xfrm>
            <a:off x="4072557" y="1591434"/>
            <a:ext cx="133291" cy="421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677"/>
              </a:lnSpc>
              <a:spcBef>
                <a:spcPct val="0"/>
              </a:spcBef>
            </a:pPr>
            <a:r>
              <a:rPr lang="en-US" sz="1838" b="1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1</a:t>
            </a: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E6A29E1C-8276-302D-BEE8-46456CB2345B}"/>
              </a:ext>
            </a:extLst>
          </p:cNvPr>
          <p:cNvSpPr txBox="1"/>
          <p:nvPr/>
        </p:nvSpPr>
        <p:spPr>
          <a:xfrm>
            <a:off x="4513812" y="2210075"/>
            <a:ext cx="3979110" cy="417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667"/>
              </a:lnSpc>
            </a:pPr>
            <a:r>
              <a:rPr lang="en-US" sz="1833" dirty="0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including the climate change impacts</a:t>
            </a:r>
          </a:p>
        </p:txBody>
      </p:sp>
      <p:grpSp>
        <p:nvGrpSpPr>
          <p:cNvPr id="19" name="Group 9">
            <a:extLst>
              <a:ext uri="{FF2B5EF4-FFF2-40B4-BE49-F238E27FC236}">
                <a16:creationId xmlns:a16="http://schemas.microsoft.com/office/drawing/2014/main" id="{DEF96FAB-CBA0-710D-480E-65A34EBEFFB2}"/>
              </a:ext>
            </a:extLst>
          </p:cNvPr>
          <p:cNvGrpSpPr/>
          <p:nvPr/>
        </p:nvGrpSpPr>
        <p:grpSpPr>
          <a:xfrm>
            <a:off x="3907350" y="2256688"/>
            <a:ext cx="463705" cy="463705"/>
            <a:chOff x="0" y="0"/>
            <a:chExt cx="812800" cy="812800"/>
          </a:xfrm>
        </p:grpSpPr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4AC0FD9F-B37F-A288-22AF-122AC7EF79A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TextBox 11">
              <a:extLst>
                <a:ext uri="{FF2B5EF4-FFF2-40B4-BE49-F238E27FC236}">
                  <a16:creationId xmlns:a16="http://schemas.microsoft.com/office/drawing/2014/main" id="{9D8BF5A5-54F8-64EE-7E73-650615D02ED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6684" tIns="26684" rIns="26684" bIns="26684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30"/>
                </a:lnSpc>
              </a:pPr>
              <a:endParaRPr sz="450"/>
            </a:p>
          </p:txBody>
        </p:sp>
      </p:grpSp>
      <p:sp>
        <p:nvSpPr>
          <p:cNvPr id="21" name="TextBox 12">
            <a:extLst>
              <a:ext uri="{FF2B5EF4-FFF2-40B4-BE49-F238E27FC236}">
                <a16:creationId xmlns:a16="http://schemas.microsoft.com/office/drawing/2014/main" id="{5AAEA229-E3C5-2A42-1F18-341A78BECFE5}"/>
              </a:ext>
            </a:extLst>
          </p:cNvPr>
          <p:cNvSpPr txBox="1"/>
          <p:nvPr/>
        </p:nvSpPr>
        <p:spPr>
          <a:xfrm>
            <a:off x="4072557" y="2206407"/>
            <a:ext cx="133291" cy="421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677"/>
              </a:lnSpc>
              <a:spcBef>
                <a:spcPct val="0"/>
              </a:spcBef>
            </a:pPr>
            <a:r>
              <a:rPr lang="en-US" sz="1838" b="1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2</a:t>
            </a:r>
          </a:p>
        </p:txBody>
      </p:sp>
      <p:sp>
        <p:nvSpPr>
          <p:cNvPr id="23" name="TextBox 13">
            <a:extLst>
              <a:ext uri="{FF2B5EF4-FFF2-40B4-BE49-F238E27FC236}">
                <a16:creationId xmlns:a16="http://schemas.microsoft.com/office/drawing/2014/main" id="{4CB79FC6-46F9-1C69-546F-8D04DF448395}"/>
              </a:ext>
            </a:extLst>
          </p:cNvPr>
          <p:cNvSpPr txBox="1"/>
          <p:nvPr/>
        </p:nvSpPr>
        <p:spPr>
          <a:xfrm>
            <a:off x="4499126" y="2822795"/>
            <a:ext cx="3979110" cy="417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667"/>
              </a:lnSpc>
            </a:pPr>
            <a:r>
              <a:rPr lang="en-US" sz="1833" dirty="0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Methodology details</a:t>
            </a:r>
          </a:p>
        </p:txBody>
      </p:sp>
      <p:grpSp>
        <p:nvGrpSpPr>
          <p:cNvPr id="27" name="Group 14">
            <a:extLst>
              <a:ext uri="{FF2B5EF4-FFF2-40B4-BE49-F238E27FC236}">
                <a16:creationId xmlns:a16="http://schemas.microsoft.com/office/drawing/2014/main" id="{2E3D4DEE-7AC6-BDE6-0539-55568A84BAB5}"/>
              </a:ext>
            </a:extLst>
          </p:cNvPr>
          <p:cNvGrpSpPr/>
          <p:nvPr/>
        </p:nvGrpSpPr>
        <p:grpSpPr>
          <a:xfrm>
            <a:off x="3907350" y="2871661"/>
            <a:ext cx="463705" cy="463705"/>
            <a:chOff x="0" y="0"/>
            <a:chExt cx="812800" cy="812800"/>
          </a:xfrm>
        </p:grpSpPr>
        <p:sp>
          <p:nvSpPr>
            <p:cNvPr id="25" name="Freeform 15">
              <a:extLst>
                <a:ext uri="{FF2B5EF4-FFF2-40B4-BE49-F238E27FC236}">
                  <a16:creationId xmlns:a16="http://schemas.microsoft.com/office/drawing/2014/main" id="{D482B2B7-2C98-593D-93A0-F18D0905BB0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TextBox 16">
              <a:extLst>
                <a:ext uri="{FF2B5EF4-FFF2-40B4-BE49-F238E27FC236}">
                  <a16:creationId xmlns:a16="http://schemas.microsoft.com/office/drawing/2014/main" id="{ACD07586-C36A-9D27-280A-DB048C8875A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6684" tIns="26684" rIns="26684" bIns="26684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30"/>
                </a:lnSpc>
              </a:pPr>
              <a:endParaRPr sz="450"/>
            </a:p>
          </p:txBody>
        </p:sp>
      </p:grpSp>
      <p:sp>
        <p:nvSpPr>
          <p:cNvPr id="29" name="TextBox 17">
            <a:extLst>
              <a:ext uri="{FF2B5EF4-FFF2-40B4-BE49-F238E27FC236}">
                <a16:creationId xmlns:a16="http://schemas.microsoft.com/office/drawing/2014/main" id="{005E8817-D454-5BC9-52A3-E09C5B79744E}"/>
              </a:ext>
            </a:extLst>
          </p:cNvPr>
          <p:cNvSpPr txBox="1"/>
          <p:nvPr/>
        </p:nvSpPr>
        <p:spPr>
          <a:xfrm>
            <a:off x="4072557" y="2821380"/>
            <a:ext cx="133291" cy="421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677"/>
              </a:lnSpc>
              <a:spcBef>
                <a:spcPct val="0"/>
              </a:spcBef>
            </a:pPr>
            <a:r>
              <a:rPr lang="en-US" sz="1838" b="1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3</a:t>
            </a:r>
          </a:p>
        </p:txBody>
      </p:sp>
      <p:sp>
        <p:nvSpPr>
          <p:cNvPr id="31" name="TextBox 18">
            <a:extLst>
              <a:ext uri="{FF2B5EF4-FFF2-40B4-BE49-F238E27FC236}">
                <a16:creationId xmlns:a16="http://schemas.microsoft.com/office/drawing/2014/main" id="{F429B372-10B6-FAC3-67F0-06B672F8671D}"/>
              </a:ext>
            </a:extLst>
          </p:cNvPr>
          <p:cNvSpPr txBox="1"/>
          <p:nvPr/>
        </p:nvSpPr>
        <p:spPr>
          <a:xfrm>
            <a:off x="4499126" y="3437769"/>
            <a:ext cx="3979110" cy="417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667"/>
              </a:lnSpc>
            </a:pPr>
            <a:r>
              <a:rPr lang="en-US" sz="1833" dirty="0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Regional workshops</a:t>
            </a:r>
          </a:p>
        </p:txBody>
      </p:sp>
      <p:grpSp>
        <p:nvGrpSpPr>
          <p:cNvPr id="35" name="Group 19">
            <a:extLst>
              <a:ext uri="{FF2B5EF4-FFF2-40B4-BE49-F238E27FC236}">
                <a16:creationId xmlns:a16="http://schemas.microsoft.com/office/drawing/2014/main" id="{C26F75A8-353C-1EC0-F16E-4AB0E1464F52}"/>
              </a:ext>
            </a:extLst>
          </p:cNvPr>
          <p:cNvGrpSpPr/>
          <p:nvPr/>
        </p:nvGrpSpPr>
        <p:grpSpPr>
          <a:xfrm>
            <a:off x="3907350" y="3486634"/>
            <a:ext cx="463705" cy="463705"/>
            <a:chOff x="0" y="0"/>
            <a:chExt cx="812800" cy="812800"/>
          </a:xfrm>
        </p:grpSpPr>
        <p:sp>
          <p:nvSpPr>
            <p:cNvPr id="33" name="Freeform 20">
              <a:extLst>
                <a:ext uri="{FF2B5EF4-FFF2-40B4-BE49-F238E27FC236}">
                  <a16:creationId xmlns:a16="http://schemas.microsoft.com/office/drawing/2014/main" id="{419DECB9-CC40-4227-EC25-231A99B354E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4" name="TextBox 21">
              <a:extLst>
                <a:ext uri="{FF2B5EF4-FFF2-40B4-BE49-F238E27FC236}">
                  <a16:creationId xmlns:a16="http://schemas.microsoft.com/office/drawing/2014/main" id="{975D1247-86E6-B9E4-B41D-8B8F9A027CC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6684" tIns="26684" rIns="26684" bIns="26684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30"/>
                </a:lnSpc>
              </a:pPr>
              <a:endParaRPr sz="450"/>
            </a:p>
          </p:txBody>
        </p:sp>
      </p:grpSp>
      <p:sp>
        <p:nvSpPr>
          <p:cNvPr id="37" name="TextBox 22">
            <a:extLst>
              <a:ext uri="{FF2B5EF4-FFF2-40B4-BE49-F238E27FC236}">
                <a16:creationId xmlns:a16="http://schemas.microsoft.com/office/drawing/2014/main" id="{1879EFE0-817A-D368-8491-761C718B5017}"/>
              </a:ext>
            </a:extLst>
          </p:cNvPr>
          <p:cNvSpPr txBox="1"/>
          <p:nvPr/>
        </p:nvSpPr>
        <p:spPr>
          <a:xfrm>
            <a:off x="4072557" y="3436354"/>
            <a:ext cx="133291" cy="421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677"/>
              </a:lnSpc>
              <a:spcBef>
                <a:spcPct val="0"/>
              </a:spcBef>
            </a:pPr>
            <a:r>
              <a:rPr lang="en-US" sz="1838" b="1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4</a:t>
            </a:r>
          </a:p>
        </p:txBody>
      </p:sp>
      <p:sp>
        <p:nvSpPr>
          <p:cNvPr id="39" name="TextBox 23">
            <a:extLst>
              <a:ext uri="{FF2B5EF4-FFF2-40B4-BE49-F238E27FC236}">
                <a16:creationId xmlns:a16="http://schemas.microsoft.com/office/drawing/2014/main" id="{1425AB91-2751-1E02-3EA8-D1F4B1F1A25B}"/>
              </a:ext>
            </a:extLst>
          </p:cNvPr>
          <p:cNvSpPr txBox="1"/>
          <p:nvPr/>
        </p:nvSpPr>
        <p:spPr>
          <a:xfrm>
            <a:off x="4499126" y="4052742"/>
            <a:ext cx="3979110" cy="418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667"/>
              </a:lnSpc>
            </a:pPr>
            <a:r>
              <a:rPr lang="en-US" sz="1833" dirty="0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Towards application</a:t>
            </a:r>
          </a:p>
        </p:txBody>
      </p:sp>
      <p:grpSp>
        <p:nvGrpSpPr>
          <p:cNvPr id="43" name="Group 24">
            <a:extLst>
              <a:ext uri="{FF2B5EF4-FFF2-40B4-BE49-F238E27FC236}">
                <a16:creationId xmlns:a16="http://schemas.microsoft.com/office/drawing/2014/main" id="{461157EC-5DC4-554F-A8B0-61FF8407ACB0}"/>
              </a:ext>
            </a:extLst>
          </p:cNvPr>
          <p:cNvGrpSpPr/>
          <p:nvPr/>
        </p:nvGrpSpPr>
        <p:grpSpPr>
          <a:xfrm>
            <a:off x="3907350" y="4101608"/>
            <a:ext cx="463705" cy="463705"/>
            <a:chOff x="0" y="0"/>
            <a:chExt cx="812800" cy="812800"/>
          </a:xfrm>
        </p:grpSpPr>
        <p:sp>
          <p:nvSpPr>
            <p:cNvPr id="41" name="Freeform 25">
              <a:extLst>
                <a:ext uri="{FF2B5EF4-FFF2-40B4-BE49-F238E27FC236}">
                  <a16:creationId xmlns:a16="http://schemas.microsoft.com/office/drawing/2014/main" id="{FE204A1D-122C-1C36-EFB1-D203DAFC8BC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2" name="TextBox 26">
              <a:extLst>
                <a:ext uri="{FF2B5EF4-FFF2-40B4-BE49-F238E27FC236}">
                  <a16:creationId xmlns:a16="http://schemas.microsoft.com/office/drawing/2014/main" id="{49A91D3C-4DF0-5D08-7BF8-E222DF40FB2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6684" tIns="26684" rIns="26684" bIns="26684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30"/>
                </a:lnSpc>
              </a:pPr>
              <a:endParaRPr sz="450"/>
            </a:p>
          </p:txBody>
        </p:sp>
      </p:grpSp>
      <p:sp>
        <p:nvSpPr>
          <p:cNvPr id="45" name="TextBox 27">
            <a:extLst>
              <a:ext uri="{FF2B5EF4-FFF2-40B4-BE49-F238E27FC236}">
                <a16:creationId xmlns:a16="http://schemas.microsoft.com/office/drawing/2014/main" id="{FDE8941D-67C7-742E-7491-6B94A5214DF9}"/>
              </a:ext>
            </a:extLst>
          </p:cNvPr>
          <p:cNvSpPr txBox="1"/>
          <p:nvPr/>
        </p:nvSpPr>
        <p:spPr>
          <a:xfrm>
            <a:off x="4072557" y="4051327"/>
            <a:ext cx="133291" cy="421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677"/>
              </a:lnSpc>
              <a:spcBef>
                <a:spcPct val="0"/>
              </a:spcBef>
            </a:pPr>
            <a:r>
              <a:rPr lang="en-US" sz="1838" b="1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5</a:t>
            </a:r>
          </a:p>
        </p:txBody>
      </p:sp>
      <p:sp>
        <p:nvSpPr>
          <p:cNvPr id="47" name="TextBox 28">
            <a:extLst>
              <a:ext uri="{FF2B5EF4-FFF2-40B4-BE49-F238E27FC236}">
                <a16:creationId xmlns:a16="http://schemas.microsoft.com/office/drawing/2014/main" id="{E40E832E-03FF-1DB9-D70C-B7F088686F85}"/>
              </a:ext>
            </a:extLst>
          </p:cNvPr>
          <p:cNvSpPr txBox="1"/>
          <p:nvPr/>
        </p:nvSpPr>
        <p:spPr>
          <a:xfrm>
            <a:off x="765725" y="1315883"/>
            <a:ext cx="2796182" cy="7706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6238"/>
              </a:lnSpc>
              <a:spcBef>
                <a:spcPct val="0"/>
              </a:spcBef>
            </a:pPr>
            <a:r>
              <a:rPr lang="en-US" sz="5150" b="1" dirty="0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Contents</a:t>
            </a:r>
            <a:endParaRPr lang="en-US" sz="5198" b="1" dirty="0">
              <a:solidFill>
                <a:srgbClr val="000000"/>
              </a:solidFill>
              <a:latin typeface="Bebas Neue Bold"/>
              <a:ea typeface="Bebas Neue Bold"/>
              <a:cs typeface="Bebas Neue Bold"/>
              <a:sym typeface="Bebas Neue Bold"/>
            </a:endParaRPr>
          </a:p>
        </p:txBody>
      </p:sp>
      <p:pic>
        <p:nvPicPr>
          <p:cNvPr id="1026" name="Picture 2" descr="Goods Contents icon PNG and SVG Vector Free Download">
            <a:extLst>
              <a:ext uri="{FF2B5EF4-FFF2-40B4-BE49-F238E27FC236}">
                <a16:creationId xmlns:a16="http://schemas.microsoft.com/office/drawing/2014/main" id="{3686C20A-6347-4CBC-A57E-97626F8340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033" y="2349537"/>
            <a:ext cx="2162175" cy="211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6293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BE7792DF-0A79-45D1-A4F3-627E2DD9BEA5}"/>
              </a:ext>
            </a:extLst>
          </p:cNvPr>
          <p:cNvSpPr/>
          <p:nvPr/>
        </p:nvSpPr>
        <p:spPr>
          <a:xfrm rot="15103423">
            <a:off x="7296511" y="3437471"/>
            <a:ext cx="1320420" cy="1855057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6A70D2-2F28-4C36-AAED-39105D8D12BA}"/>
              </a:ext>
            </a:extLst>
          </p:cNvPr>
          <p:cNvSpPr txBox="1"/>
          <p:nvPr/>
        </p:nvSpPr>
        <p:spPr>
          <a:xfrm>
            <a:off x="4755544" y="2112685"/>
            <a:ext cx="4388456" cy="677108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marL="0" marR="0" lvl="0" indent="0" defTabSz="45713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Extreme sea level</a:t>
            </a:r>
            <a:endParaRPr kumimoji="0" lang="en-GB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defTabSz="45713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tide + storm surge + wave setup + </a:t>
            </a:r>
            <a:r>
              <a:rPr kumimoji="0" lang="en-GB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sea level rise</a:t>
            </a:r>
          </a:p>
        </p:txBody>
      </p:sp>
      <p:pic>
        <p:nvPicPr>
          <p:cNvPr id="9" name="Picture 8" descr="Climate change: Coastal flooding to cost $14 trillion worldwide">
            <a:extLst>
              <a:ext uri="{FF2B5EF4-FFF2-40B4-BE49-F238E27FC236}">
                <a16:creationId xmlns:a16="http://schemas.microsoft.com/office/drawing/2014/main" id="{C9AD4986-27E3-409E-A673-F5AB6588F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21" y="1713575"/>
            <a:ext cx="4329640" cy="2441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6F7651-5801-482A-BE34-7B23913361C4}"/>
              </a:ext>
            </a:extLst>
          </p:cNvPr>
          <p:cNvSpPr txBox="1"/>
          <p:nvPr/>
        </p:nvSpPr>
        <p:spPr>
          <a:xfrm>
            <a:off x="3269619" y="4125906"/>
            <a:ext cx="133562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 dirty="0"/>
              <a:t>[Credit: USA TODAY NEWS]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C5CF35-6037-4B2D-A450-7943D2BAB8E5}"/>
              </a:ext>
            </a:extLst>
          </p:cNvPr>
          <p:cNvSpPr/>
          <p:nvPr/>
        </p:nvSpPr>
        <p:spPr>
          <a:xfrm rot="2507478">
            <a:off x="4122784" y="1078484"/>
            <a:ext cx="964913" cy="1034045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6404ECF6-04AF-4203-A82D-708421EFB9E5}"/>
              </a:ext>
            </a:extLst>
          </p:cNvPr>
          <p:cNvSpPr/>
          <p:nvPr/>
        </p:nvSpPr>
        <p:spPr>
          <a:xfrm rot="13573580">
            <a:off x="-229170" y="3816743"/>
            <a:ext cx="876582" cy="67723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https://research.csiro.au/slrwavescoast/wp-content/uploads/sites/158/2017/12/SL_continent-1.jpg">
            <a:extLst>
              <a:ext uri="{FF2B5EF4-FFF2-40B4-BE49-F238E27FC236}">
                <a16:creationId xmlns:a16="http://schemas.microsoft.com/office/drawing/2014/main" id="{D0EC88AF-0781-499F-A19C-B6297CB0D1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024" y="2789793"/>
            <a:ext cx="3996580" cy="2223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0646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60BFC720-FF37-4AB9-8EA1-32BFD2A52217}"/>
              </a:ext>
            </a:extLst>
          </p:cNvPr>
          <p:cNvSpPr txBox="1"/>
          <p:nvPr/>
        </p:nvSpPr>
        <p:spPr>
          <a:xfrm>
            <a:off x="396300" y="1811859"/>
            <a:ext cx="3059469" cy="10331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4040"/>
              </a:lnSpc>
            </a:pPr>
            <a:r>
              <a:rPr lang="en-US" sz="4000" b="1" dirty="0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Relative sea level rise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4CB435-3D1F-41FC-92B2-30014B480C54}"/>
              </a:ext>
            </a:extLst>
          </p:cNvPr>
          <p:cNvSpPr/>
          <p:nvPr/>
        </p:nvSpPr>
        <p:spPr>
          <a:xfrm>
            <a:off x="370446" y="2844962"/>
            <a:ext cx="291585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Relative sea level rise contributes to increases in the frequency and severity of coastal flooding in low-lying areas and to coastal erosion along most sandy coasts</a:t>
            </a:r>
          </a:p>
          <a:p>
            <a:r>
              <a:rPr lang="en-GB" dirty="0"/>
              <a:t>(</a:t>
            </a:r>
            <a:r>
              <a:rPr lang="en-GB" i="1" dirty="0"/>
              <a:t>high confidence</a:t>
            </a:r>
            <a:r>
              <a:rPr lang="en-GB" dirty="0"/>
              <a:t>).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B4FD44-7ABB-4531-B1BF-B61E141DB7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3641"/>
          <a:stretch/>
        </p:blipFill>
        <p:spPr>
          <a:xfrm>
            <a:off x="3966338" y="1648151"/>
            <a:ext cx="3692842" cy="2964782"/>
          </a:xfrm>
          <a:prstGeom prst="rect">
            <a:avLst/>
          </a:prstGeom>
        </p:spPr>
      </p:pic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77D04EB2-9535-4191-9A23-9439C3246BDC}"/>
              </a:ext>
            </a:extLst>
          </p:cNvPr>
          <p:cNvSpPr/>
          <p:nvPr/>
        </p:nvSpPr>
        <p:spPr>
          <a:xfrm rot="4571628">
            <a:off x="3849632" y="772093"/>
            <a:ext cx="1253007" cy="1529545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BE7792DF-0A79-45D1-A4F3-627E2DD9BEA5}"/>
              </a:ext>
            </a:extLst>
          </p:cNvPr>
          <p:cNvSpPr/>
          <p:nvPr/>
        </p:nvSpPr>
        <p:spPr>
          <a:xfrm rot="15103423">
            <a:off x="7071923" y="3437471"/>
            <a:ext cx="1320420" cy="1855057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EF76C9D-703D-4CB1-8B46-20A138333F47}"/>
              </a:ext>
            </a:extLst>
          </p:cNvPr>
          <p:cNvCxnSpPr>
            <a:cxnSpLocks/>
          </p:cNvCxnSpPr>
          <p:nvPr/>
        </p:nvCxnSpPr>
        <p:spPr>
          <a:xfrm>
            <a:off x="1900994" y="3321795"/>
            <a:ext cx="11790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5306DA6-4782-4463-AC1E-BD2A1886C344}"/>
              </a:ext>
            </a:extLst>
          </p:cNvPr>
          <p:cNvCxnSpPr>
            <a:cxnSpLocks/>
          </p:cNvCxnSpPr>
          <p:nvPr/>
        </p:nvCxnSpPr>
        <p:spPr>
          <a:xfrm>
            <a:off x="462603" y="3534661"/>
            <a:ext cx="5890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3822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3A0057C-C7D7-4C25-AF5B-8D6A60FC920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59999" y="357265"/>
            <a:ext cx="5856555" cy="540301"/>
          </a:xfrm>
        </p:spPr>
        <p:txBody>
          <a:bodyPr/>
          <a:lstStyle/>
          <a:p>
            <a:r>
              <a:rPr lang="en-GB" dirty="0"/>
              <a:t>sea level rise by warming levels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560F08-5748-4111-B52E-B8E39D8D99A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55" t="12278" r="8732" b="54688"/>
          <a:stretch/>
        </p:blipFill>
        <p:spPr>
          <a:xfrm>
            <a:off x="355281" y="1049960"/>
            <a:ext cx="4550361" cy="26002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B93E7D4-BC0D-4A1C-8D73-054085A712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38" y="1312057"/>
            <a:ext cx="5782138" cy="26673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6B8992-02A1-40AE-A9B1-234A431C9FA1}"/>
              </a:ext>
            </a:extLst>
          </p:cNvPr>
          <p:cNvSpPr txBox="1"/>
          <p:nvPr/>
        </p:nvSpPr>
        <p:spPr>
          <a:xfrm>
            <a:off x="1454137" y="2697577"/>
            <a:ext cx="7393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~1.5°C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735A9C-1D40-4360-AD80-DB896EF8589D}"/>
              </a:ext>
            </a:extLst>
          </p:cNvPr>
          <p:cNvSpPr txBox="1"/>
          <p:nvPr/>
        </p:nvSpPr>
        <p:spPr>
          <a:xfrm>
            <a:off x="2523209" y="2543688"/>
            <a:ext cx="5902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~2°C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F54965-7533-4872-9D29-696003E26546}"/>
              </a:ext>
            </a:extLst>
          </p:cNvPr>
          <p:cNvSpPr txBox="1"/>
          <p:nvPr/>
        </p:nvSpPr>
        <p:spPr>
          <a:xfrm>
            <a:off x="3685177" y="2431773"/>
            <a:ext cx="5902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~3°C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940507-9BE9-4F45-B929-B6A1BE49A642}"/>
              </a:ext>
            </a:extLst>
          </p:cNvPr>
          <p:cNvSpPr txBox="1"/>
          <p:nvPr/>
        </p:nvSpPr>
        <p:spPr>
          <a:xfrm>
            <a:off x="4793289" y="2157657"/>
            <a:ext cx="5902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~4°C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346A74-81DC-4C12-A054-721B17E9400E}"/>
              </a:ext>
            </a:extLst>
          </p:cNvPr>
          <p:cNvSpPr txBox="1"/>
          <p:nvPr/>
        </p:nvSpPr>
        <p:spPr>
          <a:xfrm>
            <a:off x="5901401" y="2003768"/>
            <a:ext cx="7393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~4.5°C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D1B0F5E-5147-412A-80C7-CC2A014E1A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3442" y="1742439"/>
            <a:ext cx="4925336" cy="28191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EEB671B-9D69-4D90-B882-0C507AE186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5969" y="1730061"/>
            <a:ext cx="1775186" cy="1627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62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77D04EB2-9535-4191-9A23-9439C3246BDC}"/>
              </a:ext>
            </a:extLst>
          </p:cNvPr>
          <p:cNvSpPr/>
          <p:nvPr/>
        </p:nvSpPr>
        <p:spPr>
          <a:xfrm rot="4571628">
            <a:off x="3849632" y="772093"/>
            <a:ext cx="1253007" cy="1529545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BE7792DF-0A79-45D1-A4F3-627E2DD9BEA5}"/>
              </a:ext>
            </a:extLst>
          </p:cNvPr>
          <p:cNvSpPr/>
          <p:nvPr/>
        </p:nvSpPr>
        <p:spPr>
          <a:xfrm rot="15103423">
            <a:off x="7071923" y="3437471"/>
            <a:ext cx="1320420" cy="1855057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D27255-AE0C-4BE5-800E-196EFA3E544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5" t="22092" r="13676" b="13595"/>
          <a:stretch/>
        </p:blipFill>
        <p:spPr>
          <a:xfrm>
            <a:off x="3392905" y="1725436"/>
            <a:ext cx="5751095" cy="28380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6B042A-1C78-4FB3-A2D1-E36E4A9A10D4}"/>
              </a:ext>
            </a:extLst>
          </p:cNvPr>
          <p:cNvSpPr txBox="1"/>
          <p:nvPr/>
        </p:nvSpPr>
        <p:spPr>
          <a:xfrm>
            <a:off x="371260" y="1725436"/>
            <a:ext cx="3334466" cy="10331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4040"/>
              </a:lnSpc>
            </a:pPr>
            <a:r>
              <a:rPr lang="en-US" sz="4000" b="1" dirty="0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Publication after AR6 WGI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26D86C-A819-4690-B2DA-C748BE7CE3C4}"/>
              </a:ext>
            </a:extLst>
          </p:cNvPr>
          <p:cNvSpPr txBox="1"/>
          <p:nvPr/>
        </p:nvSpPr>
        <p:spPr>
          <a:xfrm>
            <a:off x="371260" y="3031975"/>
            <a:ext cx="25233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In which part of the world a 100-year event will becoming an annual event if global warming reached 1.5°C – 5°C by the end of 21</a:t>
            </a:r>
            <a:r>
              <a:rPr lang="en-US" baseline="30000" dirty="0">
                <a:solidFill>
                  <a:schemeClr val="tx1"/>
                </a:solidFill>
              </a:rPr>
              <a:t>st</a:t>
            </a:r>
            <a:r>
              <a:rPr lang="en-US" dirty="0">
                <a:solidFill>
                  <a:schemeClr val="tx1"/>
                </a:solidFill>
              </a:rPr>
              <a:t> century?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064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8" name="Picture 6" descr="Explore: Ocean and Coastal Hazards">
            <a:extLst>
              <a:ext uri="{FF2B5EF4-FFF2-40B4-BE49-F238E27FC236}">
                <a16:creationId xmlns:a16="http://schemas.microsoft.com/office/drawing/2014/main" id="{613404A7-E31B-4043-901A-2C7FE22589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095" y="1319259"/>
            <a:ext cx="4206795" cy="4206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03CBE5C-D4E0-4043-A9CD-58491EA9EF20}"/>
              </a:ext>
            </a:extLst>
          </p:cNvPr>
          <p:cNvCxnSpPr>
            <a:cxnSpLocks/>
          </p:cNvCxnSpPr>
          <p:nvPr/>
        </p:nvCxnSpPr>
        <p:spPr>
          <a:xfrm>
            <a:off x="1459836" y="3400643"/>
            <a:ext cx="5007124" cy="10353"/>
          </a:xfrm>
          <a:prstGeom prst="straightConnector1">
            <a:avLst/>
          </a:prstGeom>
          <a:ln w="57150">
            <a:solidFill>
              <a:schemeClr val="accent6">
                <a:lumMod val="20000"/>
                <a:lumOff val="80000"/>
              </a:schemeClr>
            </a:solidFill>
            <a:prstDash val="sysDash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70D6819-2D5B-4D17-A07E-9557651B689B}"/>
              </a:ext>
            </a:extLst>
          </p:cNvPr>
          <p:cNvSpPr txBox="1"/>
          <p:nvPr/>
        </p:nvSpPr>
        <p:spPr>
          <a:xfrm>
            <a:off x="910042" y="3268767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1yr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462985-7BA1-4B07-96EE-AA2A801508D1}"/>
              </a:ext>
            </a:extLst>
          </p:cNvPr>
          <p:cNvSpPr txBox="1"/>
          <p:nvPr/>
        </p:nvSpPr>
        <p:spPr>
          <a:xfrm>
            <a:off x="6485631" y="3268767"/>
            <a:ext cx="22905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coastal zone management for storm erosion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E8FB05-F7EB-4AD1-950A-40F894B8FAB0}"/>
              </a:ext>
            </a:extLst>
          </p:cNvPr>
          <p:cNvSpPr/>
          <p:nvPr/>
        </p:nvSpPr>
        <p:spPr>
          <a:xfrm>
            <a:off x="723691" y="2778738"/>
            <a:ext cx="69121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100-yr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3D7A98E-BD5C-4812-A555-79930F84BEAA}"/>
              </a:ext>
            </a:extLst>
          </p:cNvPr>
          <p:cNvCxnSpPr>
            <a:cxnSpLocks/>
          </p:cNvCxnSpPr>
          <p:nvPr/>
        </p:nvCxnSpPr>
        <p:spPr>
          <a:xfrm>
            <a:off x="1459836" y="2973574"/>
            <a:ext cx="5007124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sysDash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BDC4A79B-F977-4FD8-8E9D-E52825FB0AE9}"/>
              </a:ext>
            </a:extLst>
          </p:cNvPr>
          <p:cNvSpPr/>
          <p:nvPr/>
        </p:nvSpPr>
        <p:spPr>
          <a:xfrm>
            <a:off x="6469052" y="2819686"/>
            <a:ext cx="265154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coastal setback line definition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566C89-B658-49CD-9989-7D97B2A35133}"/>
              </a:ext>
            </a:extLst>
          </p:cNvPr>
          <p:cNvSpPr txBox="1"/>
          <p:nvPr/>
        </p:nvSpPr>
        <p:spPr>
          <a:xfrm>
            <a:off x="346598" y="1319259"/>
            <a:ext cx="6120361" cy="5201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4040"/>
              </a:lnSpc>
            </a:pPr>
            <a:r>
              <a:rPr lang="en-US" sz="4000" b="1" dirty="0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Under which warming level?</a:t>
            </a:r>
          </a:p>
        </p:txBody>
      </p:sp>
    </p:spTree>
    <p:extLst>
      <p:ext uri="{BB962C8B-B14F-4D97-AF65-F5344CB8AC3E}">
        <p14:creationId xmlns:p14="http://schemas.microsoft.com/office/powerpoint/2010/main" val="2788333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2.46914E-7 L -0.00295 -0.1083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" y="-543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2.96296E-6 L 0.00364 -0.08395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4" y="-4198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2.09877E-6 L 0.0033 -0.08734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" y="-43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F74107D0-A94B-45C1-B7CF-379E2040127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037" b="2350"/>
          <a:stretch/>
        </p:blipFill>
        <p:spPr>
          <a:xfrm>
            <a:off x="4775975" y="1637304"/>
            <a:ext cx="3357777" cy="3109565"/>
          </a:xfrm>
          <a:prstGeom prst="rect">
            <a:avLst/>
          </a:prstGeom>
        </p:spPr>
      </p:pic>
      <p:pic>
        <p:nvPicPr>
          <p:cNvPr id="12294" name="Picture 6" descr="Probability Curve Icons - Free SVG &amp; PNG Probability Curve Images - Noun  Project">
            <a:extLst>
              <a:ext uri="{FF2B5EF4-FFF2-40B4-BE49-F238E27FC236}">
                <a16:creationId xmlns:a16="http://schemas.microsoft.com/office/drawing/2014/main" id="{4D2CB26D-7E45-4AEC-9575-EC3707D36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0754" y="2105749"/>
            <a:ext cx="2339955" cy="2334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2236B88-0046-463E-A8D8-23C8BA9FDDAB}"/>
              </a:ext>
            </a:extLst>
          </p:cNvPr>
          <p:cNvSpPr/>
          <p:nvPr/>
        </p:nvSpPr>
        <p:spPr>
          <a:xfrm>
            <a:off x="2826335" y="3192087"/>
            <a:ext cx="889324" cy="80965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5A39E67-D4CA-4EBC-9A6C-33DFCB0CDC9D}"/>
              </a:ext>
            </a:extLst>
          </p:cNvPr>
          <p:cNvCxnSpPr/>
          <p:nvPr/>
        </p:nvCxnSpPr>
        <p:spPr>
          <a:xfrm flipV="1">
            <a:off x="1210754" y="2240782"/>
            <a:ext cx="0" cy="15876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9AD45FE-FA9F-4FE5-BA27-7396620107C9}"/>
              </a:ext>
            </a:extLst>
          </p:cNvPr>
          <p:cNvSpPr txBox="1"/>
          <p:nvPr/>
        </p:nvSpPr>
        <p:spPr>
          <a:xfrm>
            <a:off x="878219" y="1951861"/>
            <a:ext cx="10214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Probability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FF878C-FECA-43B8-8B2C-9FFE3995E09B}"/>
              </a:ext>
            </a:extLst>
          </p:cNvPr>
          <p:cNvSpPr txBox="1"/>
          <p:nvPr/>
        </p:nvSpPr>
        <p:spPr>
          <a:xfrm>
            <a:off x="4137370" y="3674532"/>
            <a:ext cx="5629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TWL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87B4E68-9CED-4FCE-A5AF-F12590C26E93}"/>
              </a:ext>
            </a:extLst>
          </p:cNvPr>
          <p:cNvCxnSpPr>
            <a:cxnSpLocks/>
          </p:cNvCxnSpPr>
          <p:nvPr/>
        </p:nvCxnSpPr>
        <p:spPr>
          <a:xfrm>
            <a:off x="3464940" y="3820107"/>
            <a:ext cx="67243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1163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595E9466-5B7B-4120-8DED-AC04A4A0E8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975" r="15089"/>
          <a:stretch/>
        </p:blipFill>
        <p:spPr>
          <a:xfrm>
            <a:off x="813443" y="1960447"/>
            <a:ext cx="618715" cy="52988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E65E96C-6E0B-485C-99CC-82F9DECD2E1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975" r="15089"/>
          <a:stretch/>
        </p:blipFill>
        <p:spPr>
          <a:xfrm>
            <a:off x="1480624" y="1767324"/>
            <a:ext cx="618715" cy="5298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03815AE-51C8-44AA-91A7-D199DC7A8C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975" r="15089"/>
          <a:stretch/>
        </p:blipFill>
        <p:spPr>
          <a:xfrm>
            <a:off x="196960" y="2297210"/>
            <a:ext cx="657710" cy="56328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20B6912-8D6E-40B7-9F98-F10C30488E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975" r="15089"/>
          <a:stretch/>
        </p:blipFill>
        <p:spPr>
          <a:xfrm>
            <a:off x="2155647" y="1960447"/>
            <a:ext cx="618715" cy="5298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FEFA21E-0215-4AA0-82B0-2D495449C3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975" r="15089"/>
          <a:stretch/>
        </p:blipFill>
        <p:spPr>
          <a:xfrm>
            <a:off x="2783433" y="2331222"/>
            <a:ext cx="618715" cy="529886"/>
          </a:xfrm>
          <a:prstGeom prst="rect">
            <a:avLst/>
          </a:prstGeom>
        </p:spPr>
      </p:pic>
      <p:pic>
        <p:nvPicPr>
          <p:cNvPr id="12292" name="Picture 4" descr="Probability Curve Icons - Free SVG &amp; PNG Probability Curve Images - Noun  Project">
            <a:extLst>
              <a:ext uri="{FF2B5EF4-FFF2-40B4-BE49-F238E27FC236}">
                <a16:creationId xmlns:a16="http://schemas.microsoft.com/office/drawing/2014/main" id="{07A7312D-F1EE-4D4D-B56A-654EDC9959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992"/>
          <a:stretch/>
        </p:blipFill>
        <p:spPr bwMode="auto">
          <a:xfrm>
            <a:off x="26509" y="1574323"/>
            <a:ext cx="3339663" cy="1274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B419EFB-B85C-4B21-9EC2-CB2F9F76E3D7}"/>
              </a:ext>
            </a:extLst>
          </p:cNvPr>
          <p:cNvSpPr txBox="1"/>
          <p:nvPr/>
        </p:nvSpPr>
        <p:spPr>
          <a:xfrm>
            <a:off x="264023" y="2315094"/>
            <a:ext cx="6912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100-yr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7C03DF-3407-49A0-A388-6E268FB72DB9}"/>
              </a:ext>
            </a:extLst>
          </p:cNvPr>
          <p:cNvSpPr txBox="1"/>
          <p:nvPr/>
        </p:nvSpPr>
        <p:spPr>
          <a:xfrm>
            <a:off x="826608" y="1985168"/>
            <a:ext cx="6912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100-yr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5B67C7-B985-4A85-B147-0B481873C798}"/>
              </a:ext>
            </a:extLst>
          </p:cNvPr>
          <p:cNvSpPr txBox="1"/>
          <p:nvPr/>
        </p:nvSpPr>
        <p:spPr>
          <a:xfrm>
            <a:off x="1590058" y="1709005"/>
            <a:ext cx="6912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100-yr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4C9B28-440B-45AB-9966-F9C20AE7AF13}"/>
              </a:ext>
            </a:extLst>
          </p:cNvPr>
          <p:cNvSpPr txBox="1"/>
          <p:nvPr/>
        </p:nvSpPr>
        <p:spPr>
          <a:xfrm>
            <a:off x="2282308" y="2047223"/>
            <a:ext cx="6912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100-yr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CA41DC-DD3B-47CC-917B-0B11F21BD23A}"/>
              </a:ext>
            </a:extLst>
          </p:cNvPr>
          <p:cNvSpPr txBox="1"/>
          <p:nvPr/>
        </p:nvSpPr>
        <p:spPr>
          <a:xfrm>
            <a:off x="2890369" y="2386933"/>
            <a:ext cx="6912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100-yr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5255464-05D7-4B99-9D8D-C2CD4A724C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975" r="15089"/>
          <a:stretch/>
        </p:blipFill>
        <p:spPr>
          <a:xfrm>
            <a:off x="5504650" y="4085799"/>
            <a:ext cx="618715" cy="52988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D7BAC6B-8174-4286-81D8-009BB3E2E0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975" r="15089"/>
          <a:stretch/>
        </p:blipFill>
        <p:spPr>
          <a:xfrm>
            <a:off x="6171831" y="3892676"/>
            <a:ext cx="618715" cy="52988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6B96415-AAF4-4E02-9C34-70BF1B0BFF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975" r="15089"/>
          <a:stretch/>
        </p:blipFill>
        <p:spPr>
          <a:xfrm>
            <a:off x="4888167" y="4422562"/>
            <a:ext cx="657710" cy="56328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11755FA4-95A2-4A48-AC2E-59BF97D2A42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975" r="15089"/>
          <a:stretch/>
        </p:blipFill>
        <p:spPr>
          <a:xfrm>
            <a:off x="6846854" y="4085799"/>
            <a:ext cx="618715" cy="52988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0E69404-4929-41ED-B53A-FE1CF7E36CF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975" r="15089"/>
          <a:stretch/>
        </p:blipFill>
        <p:spPr>
          <a:xfrm>
            <a:off x="7474640" y="4456574"/>
            <a:ext cx="618715" cy="529886"/>
          </a:xfrm>
          <a:prstGeom prst="rect">
            <a:avLst/>
          </a:prstGeom>
        </p:spPr>
      </p:pic>
      <p:pic>
        <p:nvPicPr>
          <p:cNvPr id="38" name="Picture 4" descr="Probability Curve Icons - Free SVG &amp; PNG Probability Curve Images - Noun  Project">
            <a:extLst>
              <a:ext uri="{FF2B5EF4-FFF2-40B4-BE49-F238E27FC236}">
                <a16:creationId xmlns:a16="http://schemas.microsoft.com/office/drawing/2014/main" id="{85D234AE-3DD5-4A1E-BA9B-B9D27D0A50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992"/>
          <a:stretch/>
        </p:blipFill>
        <p:spPr bwMode="auto">
          <a:xfrm>
            <a:off x="4779451" y="3687338"/>
            <a:ext cx="3339663" cy="1274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0258F31-A3FA-4E16-8226-2D728D97959B}"/>
              </a:ext>
            </a:extLst>
          </p:cNvPr>
          <p:cNvSpPr txBox="1"/>
          <p:nvPr/>
        </p:nvSpPr>
        <p:spPr>
          <a:xfrm>
            <a:off x="4955230" y="4440446"/>
            <a:ext cx="5918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80-yr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39E90B2-446B-409B-96AA-6E0BF3943C39}"/>
              </a:ext>
            </a:extLst>
          </p:cNvPr>
          <p:cNvSpPr txBox="1"/>
          <p:nvPr/>
        </p:nvSpPr>
        <p:spPr>
          <a:xfrm>
            <a:off x="5597366" y="4085799"/>
            <a:ext cx="5918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70-yr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9757B4C-2A3F-4D18-A58D-263E68CC8D6A}"/>
              </a:ext>
            </a:extLst>
          </p:cNvPr>
          <p:cNvSpPr txBox="1"/>
          <p:nvPr/>
        </p:nvSpPr>
        <p:spPr>
          <a:xfrm>
            <a:off x="6281265" y="3834357"/>
            <a:ext cx="5918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50-yr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58E7516-457F-468A-A943-0D84BC25B357}"/>
              </a:ext>
            </a:extLst>
          </p:cNvPr>
          <p:cNvSpPr txBox="1"/>
          <p:nvPr/>
        </p:nvSpPr>
        <p:spPr>
          <a:xfrm>
            <a:off x="6973515" y="4172575"/>
            <a:ext cx="5918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20-yr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02C575B-7931-4484-AAAC-A55CBC34F4E6}"/>
              </a:ext>
            </a:extLst>
          </p:cNvPr>
          <p:cNvSpPr txBox="1"/>
          <p:nvPr/>
        </p:nvSpPr>
        <p:spPr>
          <a:xfrm>
            <a:off x="7581576" y="4512285"/>
            <a:ext cx="4924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1-yr</a:t>
            </a:r>
          </a:p>
        </p:txBody>
      </p:sp>
      <p:pic>
        <p:nvPicPr>
          <p:cNvPr id="44" name="Picture 6" descr="Probability Curve Icons - Free SVG &amp; PNG Probability Curve Images - Noun  Project">
            <a:extLst>
              <a:ext uri="{FF2B5EF4-FFF2-40B4-BE49-F238E27FC236}">
                <a16:creationId xmlns:a16="http://schemas.microsoft.com/office/drawing/2014/main" id="{3135D62E-95DC-474D-BD21-A0945A617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0372" y="2032267"/>
            <a:ext cx="2403256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8070CD-3E1E-478D-8576-F67B41EA457E}"/>
              </a:ext>
            </a:extLst>
          </p:cNvPr>
          <p:cNvSpPr txBox="1"/>
          <p:nvPr/>
        </p:nvSpPr>
        <p:spPr>
          <a:xfrm>
            <a:off x="3366172" y="3509043"/>
            <a:ext cx="23968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randomly picked SLR (x</a:t>
            </a:r>
            <a:r>
              <a:rPr lang="en-US" dirty="0">
                <a:solidFill>
                  <a:schemeClr val="tx1"/>
                </a:solidFill>
              </a:rPr>
              <a:t>°C)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A8994E-F0D7-45C6-8B86-701285A98C64}"/>
              </a:ext>
            </a:extLst>
          </p:cNvPr>
          <p:cNvSpPr txBox="1"/>
          <p:nvPr/>
        </p:nvSpPr>
        <p:spPr>
          <a:xfrm>
            <a:off x="2850576" y="2766758"/>
            <a:ext cx="4844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b="1" dirty="0"/>
              <a:t>+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A54088D-189D-4F13-8204-CB0820E020DA}"/>
              </a:ext>
            </a:extLst>
          </p:cNvPr>
          <p:cNvSpPr txBox="1"/>
          <p:nvPr/>
        </p:nvSpPr>
        <p:spPr>
          <a:xfrm>
            <a:off x="4441383" y="3799640"/>
            <a:ext cx="4844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b="1" dirty="0"/>
              <a:t>=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A75927-C435-4937-8EDD-8F4F8C849172}"/>
              </a:ext>
            </a:extLst>
          </p:cNvPr>
          <p:cNvSpPr txBox="1"/>
          <p:nvPr/>
        </p:nvSpPr>
        <p:spPr>
          <a:xfrm>
            <a:off x="4840508" y="1090564"/>
            <a:ext cx="18449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Integrating uncertainty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881A17-F782-4BB2-B994-8C29A5C2CE86}"/>
              </a:ext>
            </a:extLst>
          </p:cNvPr>
          <p:cNvSpPr/>
          <p:nvPr/>
        </p:nvSpPr>
        <p:spPr>
          <a:xfrm>
            <a:off x="103558" y="1408097"/>
            <a:ext cx="15680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present-day ESL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0108587-D8DF-4FBF-9B2F-6736878AD1B0}"/>
              </a:ext>
            </a:extLst>
          </p:cNvPr>
          <p:cNvSpPr/>
          <p:nvPr/>
        </p:nvSpPr>
        <p:spPr>
          <a:xfrm>
            <a:off x="7246817" y="3917824"/>
            <a:ext cx="19287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future ESL under x</a:t>
            </a:r>
            <a:r>
              <a:rPr lang="en-US" dirty="0">
                <a:solidFill>
                  <a:schemeClr val="tx1"/>
                </a:solidFill>
              </a:rPr>
              <a:t>°C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95261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  <p:bldP spid="29" grpId="0"/>
      <p:bldP spid="39" grpId="0"/>
      <p:bldP spid="40" grpId="0"/>
      <p:bldP spid="41" grpId="0"/>
      <p:bldP spid="42" grpId="0"/>
      <p:bldP spid="43" grpId="0"/>
      <p:bldP spid="6" grpId="0"/>
      <p:bldP spid="10" grpId="0"/>
      <p:bldP spid="45" grpId="0"/>
      <p:bldP spid="2" grpId="0"/>
      <p:bldP spid="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5" name="Rectangle 12314">
            <a:extLst>
              <a:ext uri="{FF2B5EF4-FFF2-40B4-BE49-F238E27FC236}">
                <a16:creationId xmlns:a16="http://schemas.microsoft.com/office/drawing/2014/main" id="{DFEF6996-B9B8-49C9-A249-3BAB0EB5224D}"/>
              </a:ext>
            </a:extLst>
          </p:cNvPr>
          <p:cNvSpPr/>
          <p:nvPr/>
        </p:nvSpPr>
        <p:spPr>
          <a:xfrm>
            <a:off x="7098933" y="310536"/>
            <a:ext cx="1996549" cy="17147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C10BB0-0493-42F2-AD1A-6859859C8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99" y="1947652"/>
            <a:ext cx="2112722" cy="8065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CE2BAE-ADD1-423F-8A42-693039AAD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59" y="2991198"/>
            <a:ext cx="2199762" cy="8397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DD5990-66B0-4ADA-8741-ADE138493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6" y="3944813"/>
            <a:ext cx="2303664" cy="879461"/>
          </a:xfrm>
          <a:prstGeom prst="rect">
            <a:avLst/>
          </a:prstGeom>
        </p:spPr>
      </p:pic>
      <p:pic>
        <p:nvPicPr>
          <p:cNvPr id="46" name="Picture 6" descr="Probability Curve Icons - Free SVG &amp; PNG Probability Curve Images - Noun  Project">
            <a:extLst>
              <a:ext uri="{FF2B5EF4-FFF2-40B4-BE49-F238E27FC236}">
                <a16:creationId xmlns:a16="http://schemas.microsoft.com/office/drawing/2014/main" id="{F0769B4C-61B0-44CE-939B-EBD6820418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4633" y="2035650"/>
            <a:ext cx="1464795" cy="1161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6" descr="Probability Curve Icons - Free SVG &amp; PNG Probability Curve Images - Noun  Project">
            <a:extLst>
              <a:ext uri="{FF2B5EF4-FFF2-40B4-BE49-F238E27FC236}">
                <a16:creationId xmlns:a16="http://schemas.microsoft.com/office/drawing/2014/main" id="{26D6C50C-72E3-4BCB-B17D-F8C840E9D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5979" y="3248273"/>
            <a:ext cx="1464795" cy="1161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747528-43AA-4183-90BB-408BDB0A7F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8515" y="1007649"/>
            <a:ext cx="1626442" cy="5965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58E4403-98AE-49FE-8195-0793408302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2510" y="1601017"/>
            <a:ext cx="1626442" cy="5965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5E29C95-729E-4B46-9415-14EBE89E9D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2510" y="2304661"/>
            <a:ext cx="1667592" cy="61161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EC8F5AC-CA2A-44C6-9874-7A1F391491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2680" y="2994441"/>
            <a:ext cx="1621964" cy="5948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4982E9E-168A-4A86-A503-A26426F494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7366" y="3558002"/>
            <a:ext cx="1667591" cy="61161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07605A3-DAA3-4C14-9D8B-E557298D2F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7138" y="4206389"/>
            <a:ext cx="1769196" cy="648875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6A53042-28D1-4C01-A79D-4A63E05DAADD}"/>
              </a:ext>
            </a:extLst>
          </p:cNvPr>
          <p:cNvCxnSpPr>
            <a:cxnSpLocks/>
          </p:cNvCxnSpPr>
          <p:nvPr/>
        </p:nvCxnSpPr>
        <p:spPr>
          <a:xfrm>
            <a:off x="2422120" y="2606121"/>
            <a:ext cx="642239" cy="747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42AAC6E-025A-4760-997A-25ECFAD69C9B}"/>
              </a:ext>
            </a:extLst>
          </p:cNvPr>
          <p:cNvCxnSpPr>
            <a:cxnSpLocks/>
          </p:cNvCxnSpPr>
          <p:nvPr/>
        </p:nvCxnSpPr>
        <p:spPr>
          <a:xfrm>
            <a:off x="2399524" y="2606121"/>
            <a:ext cx="709666" cy="1161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5906B37-69B0-41B7-87F8-3AC1826A671C}"/>
              </a:ext>
            </a:extLst>
          </p:cNvPr>
          <p:cNvCxnSpPr>
            <a:cxnSpLocks/>
          </p:cNvCxnSpPr>
          <p:nvPr/>
        </p:nvCxnSpPr>
        <p:spPr>
          <a:xfrm flipV="1">
            <a:off x="2335080" y="2755836"/>
            <a:ext cx="729279" cy="811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E36E749-5010-485D-972B-ACA2E5A89A87}"/>
              </a:ext>
            </a:extLst>
          </p:cNvPr>
          <p:cNvCxnSpPr>
            <a:cxnSpLocks/>
          </p:cNvCxnSpPr>
          <p:nvPr/>
        </p:nvCxnSpPr>
        <p:spPr>
          <a:xfrm>
            <a:off x="2345771" y="3558002"/>
            <a:ext cx="763419" cy="351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8F62EFE-8F9A-4B17-AFD4-5D52A0D475A4}"/>
              </a:ext>
            </a:extLst>
          </p:cNvPr>
          <p:cNvCxnSpPr>
            <a:cxnSpLocks/>
          </p:cNvCxnSpPr>
          <p:nvPr/>
        </p:nvCxnSpPr>
        <p:spPr>
          <a:xfrm flipV="1">
            <a:off x="2386261" y="2908367"/>
            <a:ext cx="657930" cy="16233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89" name="Straight Arrow Connector 12288">
            <a:extLst>
              <a:ext uri="{FF2B5EF4-FFF2-40B4-BE49-F238E27FC236}">
                <a16:creationId xmlns:a16="http://schemas.microsoft.com/office/drawing/2014/main" id="{FF762C7F-B21E-48FD-BB62-8EA83DA44F49}"/>
              </a:ext>
            </a:extLst>
          </p:cNvPr>
          <p:cNvCxnSpPr>
            <a:cxnSpLocks/>
          </p:cNvCxnSpPr>
          <p:nvPr/>
        </p:nvCxnSpPr>
        <p:spPr>
          <a:xfrm flipV="1">
            <a:off x="2366093" y="4144639"/>
            <a:ext cx="743097" cy="4004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06" name="Straight Arrow Connector 12305">
            <a:extLst>
              <a:ext uri="{FF2B5EF4-FFF2-40B4-BE49-F238E27FC236}">
                <a16:creationId xmlns:a16="http://schemas.microsoft.com/office/drawing/2014/main" id="{A44F4F57-3130-48B7-9117-E52B179B7F10}"/>
              </a:ext>
            </a:extLst>
          </p:cNvPr>
          <p:cNvCxnSpPr>
            <a:cxnSpLocks/>
          </p:cNvCxnSpPr>
          <p:nvPr/>
        </p:nvCxnSpPr>
        <p:spPr>
          <a:xfrm flipV="1">
            <a:off x="4421282" y="1565054"/>
            <a:ext cx="562859" cy="1041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09" name="Straight Arrow Connector 12308">
            <a:extLst>
              <a:ext uri="{FF2B5EF4-FFF2-40B4-BE49-F238E27FC236}">
                <a16:creationId xmlns:a16="http://schemas.microsoft.com/office/drawing/2014/main" id="{9386C210-A8D0-44DF-8F30-0DA8F60C549D}"/>
              </a:ext>
            </a:extLst>
          </p:cNvPr>
          <p:cNvCxnSpPr>
            <a:cxnSpLocks/>
          </p:cNvCxnSpPr>
          <p:nvPr/>
        </p:nvCxnSpPr>
        <p:spPr>
          <a:xfrm flipV="1">
            <a:off x="4461475" y="2156402"/>
            <a:ext cx="522666" cy="449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11" name="Straight Arrow Connector 12310">
            <a:extLst>
              <a:ext uri="{FF2B5EF4-FFF2-40B4-BE49-F238E27FC236}">
                <a16:creationId xmlns:a16="http://schemas.microsoft.com/office/drawing/2014/main" id="{27E73478-8BDD-451A-AADD-B6E461AA445B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4421282" y="2610466"/>
            <a:ext cx="6412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371EACF7-5053-41E2-824C-573388090496}"/>
              </a:ext>
            </a:extLst>
          </p:cNvPr>
          <p:cNvCxnSpPr>
            <a:cxnSpLocks/>
          </p:cNvCxnSpPr>
          <p:nvPr/>
        </p:nvCxnSpPr>
        <p:spPr>
          <a:xfrm flipV="1">
            <a:off x="4576107" y="3442203"/>
            <a:ext cx="408034" cy="529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755771F9-C9D2-41B9-9CE4-44FEA5F14AAF}"/>
              </a:ext>
            </a:extLst>
          </p:cNvPr>
          <p:cNvCxnSpPr>
            <a:cxnSpLocks/>
          </p:cNvCxnSpPr>
          <p:nvPr/>
        </p:nvCxnSpPr>
        <p:spPr>
          <a:xfrm>
            <a:off x="4616300" y="3971779"/>
            <a:ext cx="401273" cy="6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B95CD4D1-06BC-4A84-B47E-711FE6289D06}"/>
              </a:ext>
            </a:extLst>
          </p:cNvPr>
          <p:cNvCxnSpPr>
            <a:cxnSpLocks/>
          </p:cNvCxnSpPr>
          <p:nvPr/>
        </p:nvCxnSpPr>
        <p:spPr>
          <a:xfrm>
            <a:off x="4572838" y="4000110"/>
            <a:ext cx="411303" cy="4935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94">
            <a:extLst>
              <a:ext uri="{FF2B5EF4-FFF2-40B4-BE49-F238E27FC236}">
                <a16:creationId xmlns:a16="http://schemas.microsoft.com/office/drawing/2014/main" id="{5D4BA868-9528-419B-A4B8-AC37360E197F}"/>
              </a:ext>
            </a:extLst>
          </p:cNvPr>
          <p:cNvSpPr/>
          <p:nvPr/>
        </p:nvSpPr>
        <p:spPr>
          <a:xfrm>
            <a:off x="3056896" y="1403093"/>
            <a:ext cx="17006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2 sea level rise projections for </a:t>
            </a:r>
            <a:r>
              <a:rPr lang="en-US" dirty="0" err="1">
                <a:solidFill>
                  <a:schemeClr val="tx1"/>
                </a:solidFill>
              </a:rPr>
              <a:t>x°C</a:t>
            </a:r>
            <a:r>
              <a:rPr lang="en-GB" dirty="0"/>
              <a:t> 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0B3818C-3BF0-4E9F-B633-CF874EA9F5B0}"/>
              </a:ext>
            </a:extLst>
          </p:cNvPr>
          <p:cNvSpPr txBox="1"/>
          <p:nvPr/>
        </p:nvSpPr>
        <p:spPr>
          <a:xfrm>
            <a:off x="660837" y="1412599"/>
            <a:ext cx="1309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 present-day ESL datasets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E4630D7-115B-4365-8E27-B803CF97FD3A}"/>
              </a:ext>
            </a:extLst>
          </p:cNvPr>
          <p:cNvSpPr/>
          <p:nvPr/>
        </p:nvSpPr>
        <p:spPr>
          <a:xfrm>
            <a:off x="5062510" y="449355"/>
            <a:ext cx="207532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6 alternatively paired ESL projections for </a:t>
            </a:r>
            <a:r>
              <a:rPr lang="en-US" dirty="0" err="1">
                <a:solidFill>
                  <a:schemeClr val="tx1"/>
                </a:solidFill>
              </a:rPr>
              <a:t>x°C</a:t>
            </a:r>
            <a:r>
              <a:rPr lang="en-GB" dirty="0"/>
              <a:t> 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5E98AADD-81F3-41E2-B2A5-F31FD458EC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6648" y="2342043"/>
            <a:ext cx="1996548" cy="917778"/>
          </a:xfrm>
          <a:prstGeom prst="rect">
            <a:avLst/>
          </a:prstGeom>
        </p:spPr>
      </p:pic>
      <p:sp>
        <p:nvSpPr>
          <p:cNvPr id="91" name="Right Brace 90">
            <a:extLst>
              <a:ext uri="{FF2B5EF4-FFF2-40B4-BE49-F238E27FC236}">
                <a16:creationId xmlns:a16="http://schemas.microsoft.com/office/drawing/2014/main" id="{6482F24A-A3EB-4EE8-BD14-5C1F3F91D318}"/>
              </a:ext>
            </a:extLst>
          </p:cNvPr>
          <p:cNvSpPr/>
          <p:nvPr/>
        </p:nvSpPr>
        <p:spPr>
          <a:xfrm>
            <a:off x="6735812" y="1327823"/>
            <a:ext cx="373976" cy="351836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3F2808A-F490-4D1B-8A32-7BC13DC25480}"/>
              </a:ext>
            </a:extLst>
          </p:cNvPr>
          <p:cNvSpPr txBox="1"/>
          <p:nvPr/>
        </p:nvSpPr>
        <p:spPr>
          <a:xfrm>
            <a:off x="6933124" y="3186673"/>
            <a:ext cx="9605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best-case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CCCF24B6-1B22-4832-B291-5FB8F94AF43B}"/>
              </a:ext>
            </a:extLst>
          </p:cNvPr>
          <p:cNvSpPr txBox="1"/>
          <p:nvPr/>
        </p:nvSpPr>
        <p:spPr>
          <a:xfrm>
            <a:off x="8164442" y="3165964"/>
            <a:ext cx="1050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worst-case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1278192E-7F57-41EC-92C3-F1DC5CA2D81E}"/>
              </a:ext>
            </a:extLst>
          </p:cNvPr>
          <p:cNvSpPr txBox="1"/>
          <p:nvPr/>
        </p:nvSpPr>
        <p:spPr>
          <a:xfrm>
            <a:off x="7688858" y="2110298"/>
            <a:ext cx="10214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most likely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EEBDADDB-7478-4110-8FCA-8C761FACE49D}"/>
              </a:ext>
            </a:extLst>
          </p:cNvPr>
          <p:cNvSpPr/>
          <p:nvPr/>
        </p:nvSpPr>
        <p:spPr>
          <a:xfrm>
            <a:off x="7302074" y="1376055"/>
            <a:ext cx="1795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ESL full convolution for </a:t>
            </a:r>
            <a:r>
              <a:rPr lang="en-US" dirty="0" err="1">
                <a:solidFill>
                  <a:schemeClr val="tx1"/>
                </a:solidFill>
              </a:rPr>
              <a:t>x°C</a:t>
            </a:r>
            <a:r>
              <a:rPr lang="en-GB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97BA66-7B23-4AB0-8290-73630806B935}"/>
              </a:ext>
            </a:extLst>
          </p:cNvPr>
          <p:cNvSpPr txBox="1"/>
          <p:nvPr/>
        </p:nvSpPr>
        <p:spPr>
          <a:xfrm>
            <a:off x="456215" y="2691596"/>
            <a:ext cx="23036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Vousdoukas et al. (2018)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C6264AD-3736-437E-AD5C-B71C2471DCCE}"/>
              </a:ext>
            </a:extLst>
          </p:cNvPr>
          <p:cNvSpPr txBox="1"/>
          <p:nvPr/>
        </p:nvSpPr>
        <p:spPr>
          <a:xfrm>
            <a:off x="412059" y="3744285"/>
            <a:ext cx="23036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 err="1"/>
              <a:t>Kireczi</a:t>
            </a:r>
            <a:r>
              <a:rPr lang="en-GB" sz="900" dirty="0"/>
              <a:t> et al. (2018)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DF0D8B-B005-4F23-AA0A-4E5475943025}"/>
              </a:ext>
            </a:extLst>
          </p:cNvPr>
          <p:cNvSpPr txBox="1"/>
          <p:nvPr/>
        </p:nvSpPr>
        <p:spPr>
          <a:xfrm>
            <a:off x="508819" y="4739848"/>
            <a:ext cx="23036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Rasmussen et al. (2018)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200AD33-4930-4159-948C-2381181DEB34}"/>
              </a:ext>
            </a:extLst>
          </p:cNvPr>
          <p:cNvSpPr txBox="1"/>
          <p:nvPr/>
        </p:nvSpPr>
        <p:spPr>
          <a:xfrm>
            <a:off x="3237454" y="3010543"/>
            <a:ext cx="23036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Rasmussen et al. (2018)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9FD0CE3-89D8-445F-9A59-1BA8EA035AC3}"/>
              </a:ext>
            </a:extLst>
          </p:cNvPr>
          <p:cNvSpPr txBox="1"/>
          <p:nvPr/>
        </p:nvSpPr>
        <p:spPr>
          <a:xfrm>
            <a:off x="3105359" y="4262790"/>
            <a:ext cx="23036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Vega-</a:t>
            </a:r>
            <a:r>
              <a:rPr lang="en-GB" sz="900" dirty="0" err="1"/>
              <a:t>Westhoff</a:t>
            </a:r>
            <a:r>
              <a:rPr lang="en-GB" sz="900" dirty="0"/>
              <a:t> et al. (2019)</a:t>
            </a:r>
          </a:p>
        </p:txBody>
      </p:sp>
    </p:spTree>
    <p:extLst>
      <p:ext uri="{BB962C8B-B14F-4D97-AF65-F5344CB8AC3E}">
        <p14:creationId xmlns:p14="http://schemas.microsoft.com/office/powerpoint/2010/main" val="3982782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D9217D-0FD4-4ED9-B83B-AFB86A026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8426"/>
            <a:ext cx="2915136" cy="18991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3953C7-FA44-4E8D-98AB-5C129C43372E}"/>
              </a:ext>
            </a:extLst>
          </p:cNvPr>
          <p:cNvSpPr txBox="1"/>
          <p:nvPr/>
        </p:nvSpPr>
        <p:spPr>
          <a:xfrm>
            <a:off x="1304451" y="1206103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lower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F3F02A-BE2D-4DAC-B63A-1A7AAE71D7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1669" y="1515528"/>
            <a:ext cx="2915136" cy="18515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424FDF-91D5-4024-966A-4C1AD9242C7F}"/>
              </a:ext>
            </a:extLst>
          </p:cNvPr>
          <p:cNvSpPr txBox="1"/>
          <p:nvPr/>
        </p:nvSpPr>
        <p:spPr>
          <a:xfrm>
            <a:off x="4063256" y="1207751"/>
            <a:ext cx="10214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most likely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B9C340-E5DD-4C85-B894-33AE445766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805" y="1539530"/>
            <a:ext cx="2934245" cy="18275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F5FEAB3-DF81-4B8E-9008-A15631D3B60B}"/>
              </a:ext>
            </a:extLst>
          </p:cNvPr>
          <p:cNvSpPr txBox="1"/>
          <p:nvPr/>
        </p:nvSpPr>
        <p:spPr>
          <a:xfrm>
            <a:off x="7230826" y="1226052"/>
            <a:ext cx="6415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upper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93E9114-6293-4064-B8C7-915602B436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2303" y="3467758"/>
            <a:ext cx="3313130" cy="3991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C83B3C-1506-4F64-9E2A-9532E76FD2E6}"/>
              </a:ext>
            </a:extLst>
          </p:cNvPr>
          <p:cNvSpPr txBox="1"/>
          <p:nvPr/>
        </p:nvSpPr>
        <p:spPr>
          <a:xfrm>
            <a:off x="300437" y="202610"/>
            <a:ext cx="8419614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 b="1" dirty="0">
                <a:solidFill>
                  <a:srgbClr val="222222"/>
                </a:solidFill>
                <a:latin typeface="Harding"/>
              </a:rPr>
              <a:t>Present-day 100-yr ESL event to become at least an annual event – under which GWL?</a:t>
            </a:r>
            <a:endParaRPr lang="en-GB" sz="2800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9459F8-AD5B-436E-9FAA-F51B869CB5F7}"/>
              </a:ext>
            </a:extLst>
          </p:cNvPr>
          <p:cNvSpPr/>
          <p:nvPr/>
        </p:nvSpPr>
        <p:spPr>
          <a:xfrm>
            <a:off x="519988" y="3987086"/>
            <a:ext cx="798051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“~50% of the locations considered will experience the present-day 100-yr extreme-sea-level event at least once a year, even under 1.5 °C of warming”</a:t>
            </a:r>
          </a:p>
        </p:txBody>
      </p:sp>
    </p:spTree>
    <p:extLst>
      <p:ext uri="{BB962C8B-B14F-4D97-AF65-F5344CB8AC3E}">
        <p14:creationId xmlns:p14="http://schemas.microsoft.com/office/powerpoint/2010/main" val="2088915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olicy Icon Vector Art, Icons, and Graphics for Free Download">
            <a:extLst>
              <a:ext uri="{FF2B5EF4-FFF2-40B4-BE49-F238E27FC236}">
                <a16:creationId xmlns:a16="http://schemas.microsoft.com/office/drawing/2014/main" id="{56BC58CE-6831-468B-AEBF-9219676D32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72" t="14058" r="13604" b="16445"/>
          <a:stretch/>
        </p:blipFill>
        <p:spPr bwMode="auto">
          <a:xfrm>
            <a:off x="6109854" y="2816359"/>
            <a:ext cx="2568921" cy="2327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0BFC720-FF37-4AB9-8EA1-32BFD2A52217}"/>
              </a:ext>
            </a:extLst>
          </p:cNvPr>
          <p:cNvSpPr txBox="1"/>
          <p:nvPr/>
        </p:nvSpPr>
        <p:spPr>
          <a:xfrm>
            <a:off x="2913933" y="1232718"/>
            <a:ext cx="6230067" cy="10331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4040"/>
              </a:lnSpc>
            </a:pPr>
            <a:r>
              <a:rPr lang="en-US" sz="4000" b="1" dirty="0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for climate resilient coastlines, we need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4CB435-3D1F-41FC-92B2-30014B480C54}"/>
              </a:ext>
            </a:extLst>
          </p:cNvPr>
          <p:cNvSpPr/>
          <p:nvPr/>
        </p:nvSpPr>
        <p:spPr>
          <a:xfrm>
            <a:off x="3849820" y="2365413"/>
            <a:ext cx="29574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Projections for different global  warming levels and return periods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3B8EC1C-14B9-484C-9560-A6C3AE78D7C5}"/>
              </a:ext>
            </a:extLst>
          </p:cNvPr>
          <p:cNvCxnSpPr>
            <a:cxnSpLocks/>
          </p:cNvCxnSpPr>
          <p:nvPr/>
        </p:nvCxnSpPr>
        <p:spPr>
          <a:xfrm>
            <a:off x="3943786" y="2877680"/>
            <a:ext cx="26068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CC33F99-AF98-4814-919A-E20CD18E1A50}"/>
              </a:ext>
            </a:extLst>
          </p:cNvPr>
          <p:cNvCxnSpPr>
            <a:cxnSpLocks/>
          </p:cNvCxnSpPr>
          <p:nvPr/>
        </p:nvCxnSpPr>
        <p:spPr>
          <a:xfrm>
            <a:off x="5777985" y="2635352"/>
            <a:ext cx="5239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4" descr="Global update: Paris Agreement Turning Point | Climate Action Tracker">
            <a:extLst>
              <a:ext uri="{FF2B5EF4-FFF2-40B4-BE49-F238E27FC236}">
                <a16:creationId xmlns:a16="http://schemas.microsoft.com/office/drawing/2014/main" id="{3F8D951C-E0AD-4603-AC54-6EB312D47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99" y="1735957"/>
            <a:ext cx="3481125" cy="2847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CAA385A-2936-4526-BE78-CD205C9D7638}"/>
              </a:ext>
            </a:extLst>
          </p:cNvPr>
          <p:cNvSpPr/>
          <p:nvPr/>
        </p:nvSpPr>
        <p:spPr>
          <a:xfrm>
            <a:off x="1280705" y="2551043"/>
            <a:ext cx="457200" cy="3028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EDF27A-B41A-42C6-A515-2C05F0F7F97C}"/>
              </a:ext>
            </a:extLst>
          </p:cNvPr>
          <p:cNvSpPr txBox="1"/>
          <p:nvPr/>
        </p:nvSpPr>
        <p:spPr>
          <a:xfrm>
            <a:off x="1574667" y="2292569"/>
            <a:ext cx="486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3°C</a:t>
            </a:r>
          </a:p>
        </p:txBody>
      </p:sp>
    </p:spTree>
    <p:extLst>
      <p:ext uri="{BB962C8B-B14F-4D97-AF65-F5344CB8AC3E}">
        <p14:creationId xmlns:p14="http://schemas.microsoft.com/office/powerpoint/2010/main" val="2591580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9" grpId="0" animBg="1"/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8" name="Picture 6" descr="Explore: Ocean and Coastal Hazards">
            <a:extLst>
              <a:ext uri="{FF2B5EF4-FFF2-40B4-BE49-F238E27FC236}">
                <a16:creationId xmlns:a16="http://schemas.microsoft.com/office/drawing/2014/main" id="{613404A7-E31B-4043-901A-2C7FE22589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095" y="1319259"/>
            <a:ext cx="4206795" cy="4206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03CBE5C-D4E0-4043-A9CD-58491EA9EF20}"/>
              </a:ext>
            </a:extLst>
          </p:cNvPr>
          <p:cNvCxnSpPr>
            <a:cxnSpLocks/>
          </p:cNvCxnSpPr>
          <p:nvPr/>
        </p:nvCxnSpPr>
        <p:spPr>
          <a:xfrm>
            <a:off x="1459836" y="3412304"/>
            <a:ext cx="5007124" cy="10353"/>
          </a:xfrm>
          <a:prstGeom prst="straightConnector1">
            <a:avLst/>
          </a:prstGeom>
          <a:ln w="57150">
            <a:solidFill>
              <a:schemeClr val="accent6">
                <a:lumMod val="20000"/>
                <a:lumOff val="80000"/>
              </a:schemeClr>
            </a:solidFill>
            <a:prstDash val="sysDash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70D6819-2D5B-4D17-A07E-9557651B689B}"/>
              </a:ext>
            </a:extLst>
          </p:cNvPr>
          <p:cNvSpPr txBox="1"/>
          <p:nvPr/>
        </p:nvSpPr>
        <p:spPr>
          <a:xfrm>
            <a:off x="95515" y="3258415"/>
            <a:ext cx="1346844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1-yr and 10-yr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462985-7BA1-4B07-96EE-AA2A801508D1}"/>
              </a:ext>
            </a:extLst>
          </p:cNvPr>
          <p:cNvSpPr txBox="1"/>
          <p:nvPr/>
        </p:nvSpPr>
        <p:spPr>
          <a:xfrm>
            <a:off x="6484436" y="3258415"/>
            <a:ext cx="22905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coastal zone management for storm erosion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34CA9D1-6761-4184-892C-0118BC0E75F0}"/>
              </a:ext>
            </a:extLst>
          </p:cNvPr>
          <p:cNvCxnSpPr>
            <a:cxnSpLocks/>
          </p:cNvCxnSpPr>
          <p:nvPr/>
        </p:nvCxnSpPr>
        <p:spPr>
          <a:xfrm>
            <a:off x="1459836" y="3197875"/>
            <a:ext cx="5007124" cy="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sysDash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2EE3EC7-DDF3-49F5-93BE-2FEC070AC270}"/>
              </a:ext>
            </a:extLst>
          </p:cNvPr>
          <p:cNvSpPr txBox="1"/>
          <p:nvPr/>
        </p:nvSpPr>
        <p:spPr>
          <a:xfrm>
            <a:off x="6484436" y="3043986"/>
            <a:ext cx="25591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port and harbour design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4F725F-399B-40B8-9561-286322F0CF08}"/>
              </a:ext>
            </a:extLst>
          </p:cNvPr>
          <p:cNvSpPr/>
          <p:nvPr/>
        </p:nvSpPr>
        <p:spPr>
          <a:xfrm>
            <a:off x="823077" y="3018577"/>
            <a:ext cx="5918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50-yr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E8FB05-F7EB-4AD1-950A-40F894B8FAB0}"/>
              </a:ext>
            </a:extLst>
          </p:cNvPr>
          <p:cNvSpPr/>
          <p:nvPr/>
        </p:nvSpPr>
        <p:spPr>
          <a:xfrm>
            <a:off x="723691" y="2778738"/>
            <a:ext cx="69121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100-yr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3D7A98E-BD5C-4812-A555-79930F84BEAA}"/>
              </a:ext>
            </a:extLst>
          </p:cNvPr>
          <p:cNvCxnSpPr>
            <a:cxnSpLocks/>
          </p:cNvCxnSpPr>
          <p:nvPr/>
        </p:nvCxnSpPr>
        <p:spPr>
          <a:xfrm>
            <a:off x="1459836" y="2973574"/>
            <a:ext cx="5007124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sysDash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BDC4A79B-F977-4FD8-8E9D-E52825FB0AE9}"/>
              </a:ext>
            </a:extLst>
          </p:cNvPr>
          <p:cNvSpPr/>
          <p:nvPr/>
        </p:nvSpPr>
        <p:spPr>
          <a:xfrm>
            <a:off x="6494358" y="2819685"/>
            <a:ext cx="265154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coastal setback line definition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9D2CEE-851D-431E-98E7-613383FC9A17}"/>
              </a:ext>
            </a:extLst>
          </p:cNvPr>
          <p:cNvSpPr/>
          <p:nvPr/>
        </p:nvSpPr>
        <p:spPr>
          <a:xfrm>
            <a:off x="733613" y="2520738"/>
            <a:ext cx="69121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200-yr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2CE2020-73A6-430F-8F37-24E3956F04BC}"/>
              </a:ext>
            </a:extLst>
          </p:cNvPr>
          <p:cNvSpPr/>
          <p:nvPr/>
        </p:nvSpPr>
        <p:spPr>
          <a:xfrm>
            <a:off x="6494358" y="2547906"/>
            <a:ext cx="173124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insurance premia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6934835-37FE-4943-B3A3-EEFACAD19E77}"/>
              </a:ext>
            </a:extLst>
          </p:cNvPr>
          <p:cNvCxnSpPr>
            <a:cxnSpLocks/>
          </p:cNvCxnSpPr>
          <p:nvPr/>
        </p:nvCxnSpPr>
        <p:spPr>
          <a:xfrm>
            <a:off x="1459836" y="2679927"/>
            <a:ext cx="5007124" cy="20512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8566C89-B658-49CD-9989-7D97B2A35133}"/>
              </a:ext>
            </a:extLst>
          </p:cNvPr>
          <p:cNvSpPr txBox="1"/>
          <p:nvPr/>
        </p:nvSpPr>
        <p:spPr>
          <a:xfrm>
            <a:off x="346599" y="1425483"/>
            <a:ext cx="5613044" cy="5201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4040"/>
              </a:lnSpc>
            </a:pPr>
            <a:r>
              <a:rPr lang="en-US" sz="4000" b="1" dirty="0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Different return periods</a:t>
            </a:r>
          </a:p>
        </p:txBody>
      </p:sp>
    </p:spTree>
    <p:extLst>
      <p:ext uri="{BB962C8B-B14F-4D97-AF65-F5344CB8AC3E}">
        <p14:creationId xmlns:p14="http://schemas.microsoft.com/office/powerpoint/2010/main" val="323438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1" grpId="0"/>
      <p:bldP spid="23" grpId="0"/>
      <p:bldP spid="16" grpId="0"/>
      <p:bldP spid="18" grpId="0"/>
      <p:bldP spid="19" grpId="0"/>
      <p:bldP spid="28" grpId="0"/>
      <p:bldP spid="2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773C9C-7105-41A1-B75E-2D335C1D8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6513" y="1521320"/>
            <a:ext cx="4988177" cy="21008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2B68A9-7C98-4433-9088-76F03ADE671F}"/>
              </a:ext>
            </a:extLst>
          </p:cNvPr>
          <p:cNvSpPr txBox="1"/>
          <p:nvPr/>
        </p:nvSpPr>
        <p:spPr>
          <a:xfrm>
            <a:off x="203297" y="1579942"/>
            <a:ext cx="2966096" cy="2571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4040"/>
              </a:lnSpc>
            </a:pPr>
            <a:r>
              <a:rPr lang="en-US" sz="4000" b="1" dirty="0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GWL impact on other RPs –Sri-Lanka, Thailand, Egypt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7D8FED-1CA3-4D06-9EF0-0C2F6CFE79C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561"/>
          <a:stretch/>
        </p:blipFill>
        <p:spPr>
          <a:xfrm>
            <a:off x="3169393" y="2243219"/>
            <a:ext cx="5686599" cy="210086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B161AA6-373C-4D8A-81F2-232E2AEEE4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2685" y="2920024"/>
            <a:ext cx="5791199" cy="168972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ED8613E-6A12-44D9-9E6B-7AEA8D5C0B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324320"/>
              </p:ext>
            </p:extLst>
          </p:nvPr>
        </p:nvGraphicFramePr>
        <p:xfrm>
          <a:off x="2932978" y="3511659"/>
          <a:ext cx="6083261" cy="1280538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197741">
                  <a:extLst>
                    <a:ext uri="{9D8B030D-6E8A-4147-A177-3AD203B41FA5}">
                      <a16:colId xmlns:a16="http://schemas.microsoft.com/office/drawing/2014/main" val="2681087154"/>
                    </a:ext>
                  </a:extLst>
                </a:gridCol>
                <a:gridCol w="1483491">
                  <a:extLst>
                    <a:ext uri="{9D8B030D-6E8A-4147-A177-3AD203B41FA5}">
                      <a16:colId xmlns:a16="http://schemas.microsoft.com/office/drawing/2014/main" val="720202330"/>
                    </a:ext>
                  </a:extLst>
                </a:gridCol>
                <a:gridCol w="1715735">
                  <a:extLst>
                    <a:ext uri="{9D8B030D-6E8A-4147-A177-3AD203B41FA5}">
                      <a16:colId xmlns:a16="http://schemas.microsoft.com/office/drawing/2014/main" val="3779886862"/>
                    </a:ext>
                  </a:extLst>
                </a:gridCol>
                <a:gridCol w="1686294">
                  <a:extLst>
                    <a:ext uri="{9D8B030D-6E8A-4147-A177-3AD203B41FA5}">
                      <a16:colId xmlns:a16="http://schemas.microsoft.com/office/drawing/2014/main" val="12893219"/>
                    </a:ext>
                  </a:extLst>
                </a:gridCol>
              </a:tblGrid>
              <a:tr h="21342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u="none" strike="noStrike" dirty="0">
                          <a:effectLst/>
                        </a:rPr>
                        <a:t>Locations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u="none" strike="noStrike" dirty="0">
                          <a:effectLst/>
                        </a:rPr>
                        <a:t>+1.5° C  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u="none" strike="noStrike" dirty="0">
                          <a:effectLst/>
                        </a:rPr>
                        <a:t>+3° C  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u="none" strike="noStrike" dirty="0">
                          <a:effectLst/>
                        </a:rPr>
                        <a:t>+5° C  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393616"/>
                  </a:ext>
                </a:extLst>
              </a:tr>
              <a:tr h="21342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i="1" u="none" strike="noStrike" dirty="0">
                          <a:effectLst/>
                        </a:rPr>
                        <a:t>El-Alamein</a:t>
                      </a:r>
                      <a:endParaRPr lang="en-GB" sz="12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2080 [2040 -  &gt;2100]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2070 [2040 -  &gt;2100]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2060 [2030 - 2100]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90042790"/>
                  </a:ext>
                </a:extLst>
              </a:tr>
              <a:tr h="21342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i="1" u="none" strike="noStrike" dirty="0">
                          <a:effectLst/>
                        </a:rPr>
                        <a:t>Alexandria</a:t>
                      </a:r>
                      <a:endParaRPr lang="en-GB" sz="12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2080 [2040 -  &gt;2100]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2070 [2040 -  &gt;2100]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2060 [2030 - 2090]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14810909"/>
                  </a:ext>
                </a:extLst>
              </a:tr>
              <a:tr h="21342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i="1" u="none" strike="noStrike" dirty="0" err="1">
                          <a:effectLst/>
                        </a:rPr>
                        <a:t>Kafr</a:t>
                      </a:r>
                      <a:r>
                        <a:rPr lang="en-GB" sz="1200" i="1" u="none" strike="noStrike" dirty="0">
                          <a:effectLst/>
                        </a:rPr>
                        <a:t>-El-Sheikh</a:t>
                      </a:r>
                      <a:endParaRPr lang="en-GB" sz="12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2080 [2040 -  &gt;2100]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2070 [2040 -  &gt;2100]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2060 [2040 - 2100]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37273332"/>
                  </a:ext>
                </a:extLst>
              </a:tr>
              <a:tr h="21342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i="1" u="none" strike="noStrike" dirty="0">
                          <a:effectLst/>
                        </a:rPr>
                        <a:t>Damietta</a:t>
                      </a:r>
                      <a:endParaRPr lang="en-GB" sz="12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2080 [2040 -  &gt;2100]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2070 [2040 -  &gt;2100]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2060 [2040 -  &gt;2100]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61068464"/>
                  </a:ext>
                </a:extLst>
              </a:tr>
              <a:tr h="21342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i="1" u="none" strike="noStrike" dirty="0">
                          <a:effectLst/>
                        </a:rPr>
                        <a:t>Port-Said</a:t>
                      </a:r>
                      <a:endParaRPr lang="en-GB" sz="12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2090 [2040 -  &gt;2100]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2070 [2040 -  &gt;2100]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2060 [2030 -  &gt;2100]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39421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3243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92B68A9-7C98-4433-9088-76F03ADE671F}"/>
              </a:ext>
            </a:extLst>
          </p:cNvPr>
          <p:cNvSpPr txBox="1"/>
          <p:nvPr/>
        </p:nvSpPr>
        <p:spPr>
          <a:xfrm>
            <a:off x="394725" y="1609968"/>
            <a:ext cx="5765005" cy="10331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4040"/>
              </a:lnSpc>
            </a:pPr>
            <a:r>
              <a:rPr lang="en-US" sz="4000" b="1" dirty="0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GWL impact on other RPs – Egypt, Thailand, Sri-Lanka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94156F-2FDA-44D8-905D-A88C43DA08ED}"/>
              </a:ext>
            </a:extLst>
          </p:cNvPr>
          <p:cNvSpPr/>
          <p:nvPr/>
        </p:nvSpPr>
        <p:spPr>
          <a:xfrm>
            <a:off x="2087850" y="2737837"/>
            <a:ext cx="671532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ESLs around all these countries are projected to rise significantly, with potential increases ranging from two-fold to several times the current levels.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ESL increase is higher for 1 </a:t>
            </a:r>
            <a:r>
              <a:rPr lang="en-GB" dirty="0" err="1"/>
              <a:t>yr</a:t>
            </a:r>
            <a:r>
              <a:rPr lang="en-GB" dirty="0"/>
              <a:t> and 10 </a:t>
            </a:r>
            <a:r>
              <a:rPr lang="en-GB" dirty="0" err="1"/>
              <a:t>yr</a:t>
            </a:r>
            <a:r>
              <a:rPr lang="en-GB" dirty="0"/>
              <a:t> RP ESLs, and there is not that much difference among the increases (%) for other RP ESLs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increase in ESLs becomes highly pronounced for GWL &gt; 3°C.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Achieving Paris agreement temperature target will have more adaptation time for the Nile Delta</a:t>
            </a:r>
          </a:p>
        </p:txBody>
      </p:sp>
    </p:spTree>
    <p:extLst>
      <p:ext uri="{BB962C8B-B14F-4D97-AF65-F5344CB8AC3E}">
        <p14:creationId xmlns:p14="http://schemas.microsoft.com/office/powerpoint/2010/main" val="1598692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>
            <a:extLst>
              <a:ext uri="{FF2B5EF4-FFF2-40B4-BE49-F238E27FC236}">
                <a16:creationId xmlns:a16="http://schemas.microsoft.com/office/drawing/2014/main" id="{901BFD23-7626-8F16-E891-CDE482348C9D}"/>
              </a:ext>
            </a:extLst>
          </p:cNvPr>
          <p:cNvGrpSpPr/>
          <p:nvPr/>
        </p:nvGrpSpPr>
        <p:grpSpPr>
          <a:xfrm>
            <a:off x="800768" y="1569716"/>
            <a:ext cx="1725787" cy="2562895"/>
            <a:chOff x="0" y="-38100"/>
            <a:chExt cx="909057" cy="135000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0980197-751B-BC67-01DA-8CD10641FF39}"/>
                </a:ext>
              </a:extLst>
            </p:cNvPr>
            <p:cNvSpPr/>
            <p:nvPr/>
          </p:nvSpPr>
          <p:spPr>
            <a:xfrm>
              <a:off x="0" y="0"/>
              <a:ext cx="909057" cy="1311902"/>
            </a:xfrm>
            <a:custGeom>
              <a:avLst/>
              <a:gdLst/>
              <a:ahLst/>
              <a:cxnLst/>
              <a:rect l="l" t="t" r="r" b="b"/>
              <a:pathLst>
                <a:path w="909057" h="1311902">
                  <a:moveTo>
                    <a:pt x="76262" y="0"/>
                  </a:moveTo>
                  <a:lnTo>
                    <a:pt x="832794" y="0"/>
                  </a:lnTo>
                  <a:cubicBezTo>
                    <a:pt x="874913" y="0"/>
                    <a:pt x="909057" y="34144"/>
                    <a:pt x="909057" y="76262"/>
                  </a:cubicBezTo>
                  <a:lnTo>
                    <a:pt x="909057" y="1235640"/>
                  </a:lnTo>
                  <a:cubicBezTo>
                    <a:pt x="909057" y="1277758"/>
                    <a:pt x="874913" y="1311902"/>
                    <a:pt x="832794" y="1311902"/>
                  </a:cubicBezTo>
                  <a:lnTo>
                    <a:pt x="76262" y="1311902"/>
                  </a:lnTo>
                  <a:cubicBezTo>
                    <a:pt x="34144" y="1311902"/>
                    <a:pt x="0" y="1277758"/>
                    <a:pt x="0" y="1235640"/>
                  </a:cubicBezTo>
                  <a:lnTo>
                    <a:pt x="0" y="76262"/>
                  </a:lnTo>
                  <a:cubicBezTo>
                    <a:pt x="0" y="34144"/>
                    <a:pt x="34144" y="0"/>
                    <a:pt x="76262" y="0"/>
                  </a:cubicBezTo>
                  <a:close/>
                </a:path>
              </a:pathLst>
            </a:custGeom>
            <a:solidFill>
              <a:srgbClr val="CADD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DF706A1-F32F-FE50-6644-48349DB8E3CD}"/>
                </a:ext>
              </a:extLst>
            </p:cNvPr>
            <p:cNvSpPr txBox="1"/>
            <p:nvPr/>
          </p:nvSpPr>
          <p:spPr>
            <a:xfrm>
              <a:off x="0" y="-38100"/>
              <a:ext cx="909057" cy="1350002"/>
            </a:xfrm>
            <a:prstGeom prst="rect">
              <a:avLst/>
            </a:prstGeom>
          </p:spPr>
          <p:txBody>
            <a:bodyPr lIns="25400" tIns="25400" rIns="25400" bIns="2540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1330"/>
                </a:lnSpc>
                <a:spcBef>
                  <a:spcPct val="0"/>
                </a:spcBef>
              </a:pPr>
              <a:endParaRPr sz="450"/>
            </a:p>
          </p:txBody>
        </p:sp>
      </p:grpSp>
      <p:grpSp>
        <p:nvGrpSpPr>
          <p:cNvPr id="9" name="Group 5">
            <a:extLst>
              <a:ext uri="{FF2B5EF4-FFF2-40B4-BE49-F238E27FC236}">
                <a16:creationId xmlns:a16="http://schemas.microsoft.com/office/drawing/2014/main" id="{ADD9230E-CA65-90FD-CD57-6FFF7FD2B8D6}"/>
              </a:ext>
            </a:extLst>
          </p:cNvPr>
          <p:cNvGrpSpPr/>
          <p:nvPr/>
        </p:nvGrpSpPr>
        <p:grpSpPr>
          <a:xfrm>
            <a:off x="6693459" y="1569714"/>
            <a:ext cx="1725787" cy="2562895"/>
            <a:chOff x="0" y="-38100"/>
            <a:chExt cx="909057" cy="1350002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ED4A775-71DA-C7B2-7523-936F4C80EDC2}"/>
                </a:ext>
              </a:extLst>
            </p:cNvPr>
            <p:cNvSpPr/>
            <p:nvPr/>
          </p:nvSpPr>
          <p:spPr>
            <a:xfrm>
              <a:off x="0" y="0"/>
              <a:ext cx="909057" cy="1311902"/>
            </a:xfrm>
            <a:custGeom>
              <a:avLst/>
              <a:gdLst/>
              <a:ahLst/>
              <a:cxnLst/>
              <a:rect l="l" t="t" r="r" b="b"/>
              <a:pathLst>
                <a:path w="909057" h="1311902">
                  <a:moveTo>
                    <a:pt x="76262" y="0"/>
                  </a:moveTo>
                  <a:lnTo>
                    <a:pt x="832794" y="0"/>
                  </a:lnTo>
                  <a:cubicBezTo>
                    <a:pt x="874913" y="0"/>
                    <a:pt x="909057" y="34144"/>
                    <a:pt x="909057" y="76262"/>
                  </a:cubicBezTo>
                  <a:lnTo>
                    <a:pt x="909057" y="1235640"/>
                  </a:lnTo>
                  <a:cubicBezTo>
                    <a:pt x="909057" y="1277758"/>
                    <a:pt x="874913" y="1311902"/>
                    <a:pt x="832794" y="1311902"/>
                  </a:cubicBezTo>
                  <a:lnTo>
                    <a:pt x="76262" y="1311902"/>
                  </a:lnTo>
                  <a:cubicBezTo>
                    <a:pt x="34144" y="1311902"/>
                    <a:pt x="0" y="1277758"/>
                    <a:pt x="0" y="1235640"/>
                  </a:cubicBezTo>
                  <a:lnTo>
                    <a:pt x="0" y="76262"/>
                  </a:lnTo>
                  <a:cubicBezTo>
                    <a:pt x="0" y="34144"/>
                    <a:pt x="34144" y="0"/>
                    <a:pt x="76262" y="0"/>
                  </a:cubicBezTo>
                  <a:close/>
                </a:path>
              </a:pathLst>
            </a:custGeom>
            <a:solidFill>
              <a:srgbClr val="CADD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2007DDB-159C-35D8-2ECB-06218966F97E}"/>
                </a:ext>
              </a:extLst>
            </p:cNvPr>
            <p:cNvSpPr txBox="1"/>
            <p:nvPr/>
          </p:nvSpPr>
          <p:spPr>
            <a:xfrm>
              <a:off x="0" y="-38100"/>
              <a:ext cx="909057" cy="1350002"/>
            </a:xfrm>
            <a:prstGeom prst="rect">
              <a:avLst/>
            </a:prstGeom>
          </p:spPr>
          <p:txBody>
            <a:bodyPr lIns="25400" tIns="25400" rIns="25400" bIns="2540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1330"/>
                </a:lnSpc>
                <a:spcBef>
                  <a:spcPct val="0"/>
                </a:spcBef>
              </a:pPr>
              <a:endParaRPr sz="450"/>
            </a:p>
          </p:txBody>
        </p:sp>
      </p:grpSp>
      <p:grpSp>
        <p:nvGrpSpPr>
          <p:cNvPr id="17" name="Group 11">
            <a:extLst>
              <a:ext uri="{FF2B5EF4-FFF2-40B4-BE49-F238E27FC236}">
                <a16:creationId xmlns:a16="http://schemas.microsoft.com/office/drawing/2014/main" id="{EC9746E5-094F-80A4-746C-FD64E41FB90F}"/>
              </a:ext>
            </a:extLst>
          </p:cNvPr>
          <p:cNvGrpSpPr/>
          <p:nvPr/>
        </p:nvGrpSpPr>
        <p:grpSpPr>
          <a:xfrm>
            <a:off x="2734325" y="1569716"/>
            <a:ext cx="1725787" cy="2562895"/>
            <a:chOff x="0" y="-38100"/>
            <a:chExt cx="909057" cy="1350002"/>
          </a:xfrm>
        </p:grpSpPr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9DC29217-68C4-37F3-7A9B-84015C117B24}"/>
                </a:ext>
              </a:extLst>
            </p:cNvPr>
            <p:cNvSpPr/>
            <p:nvPr/>
          </p:nvSpPr>
          <p:spPr>
            <a:xfrm>
              <a:off x="0" y="0"/>
              <a:ext cx="909057" cy="1311902"/>
            </a:xfrm>
            <a:custGeom>
              <a:avLst/>
              <a:gdLst/>
              <a:ahLst/>
              <a:cxnLst/>
              <a:rect l="l" t="t" r="r" b="b"/>
              <a:pathLst>
                <a:path w="909057" h="1311902">
                  <a:moveTo>
                    <a:pt x="76262" y="0"/>
                  </a:moveTo>
                  <a:lnTo>
                    <a:pt x="832794" y="0"/>
                  </a:lnTo>
                  <a:cubicBezTo>
                    <a:pt x="874913" y="0"/>
                    <a:pt x="909057" y="34144"/>
                    <a:pt x="909057" y="76262"/>
                  </a:cubicBezTo>
                  <a:lnTo>
                    <a:pt x="909057" y="1235640"/>
                  </a:lnTo>
                  <a:cubicBezTo>
                    <a:pt x="909057" y="1277758"/>
                    <a:pt x="874913" y="1311902"/>
                    <a:pt x="832794" y="1311902"/>
                  </a:cubicBezTo>
                  <a:lnTo>
                    <a:pt x="76262" y="1311902"/>
                  </a:lnTo>
                  <a:cubicBezTo>
                    <a:pt x="34144" y="1311902"/>
                    <a:pt x="0" y="1277758"/>
                    <a:pt x="0" y="1235640"/>
                  </a:cubicBezTo>
                  <a:lnTo>
                    <a:pt x="0" y="76262"/>
                  </a:lnTo>
                  <a:cubicBezTo>
                    <a:pt x="0" y="34144"/>
                    <a:pt x="34144" y="0"/>
                    <a:pt x="76262" y="0"/>
                  </a:cubicBezTo>
                  <a:close/>
                </a:path>
              </a:pathLst>
            </a:custGeom>
            <a:solidFill>
              <a:srgbClr val="CADD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Box 13">
              <a:extLst>
                <a:ext uri="{FF2B5EF4-FFF2-40B4-BE49-F238E27FC236}">
                  <a16:creationId xmlns:a16="http://schemas.microsoft.com/office/drawing/2014/main" id="{CC67F96C-C8C6-FA02-1887-B21E55587072}"/>
                </a:ext>
              </a:extLst>
            </p:cNvPr>
            <p:cNvSpPr txBox="1"/>
            <p:nvPr/>
          </p:nvSpPr>
          <p:spPr>
            <a:xfrm>
              <a:off x="0" y="-38100"/>
              <a:ext cx="909057" cy="1350002"/>
            </a:xfrm>
            <a:prstGeom prst="rect">
              <a:avLst/>
            </a:prstGeom>
          </p:spPr>
          <p:txBody>
            <a:bodyPr lIns="25400" tIns="25400" rIns="25400" bIns="2540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1330"/>
                </a:lnSpc>
                <a:spcBef>
                  <a:spcPct val="0"/>
                </a:spcBef>
              </a:pPr>
              <a:endParaRPr sz="450"/>
            </a:p>
          </p:txBody>
        </p:sp>
      </p:grpSp>
      <p:sp>
        <p:nvSpPr>
          <p:cNvPr id="19" name="TextBox 14">
            <a:extLst>
              <a:ext uri="{FF2B5EF4-FFF2-40B4-BE49-F238E27FC236}">
                <a16:creationId xmlns:a16="http://schemas.microsoft.com/office/drawing/2014/main" id="{1825595F-D02D-2A5E-F5B1-B0E781360057}"/>
              </a:ext>
            </a:extLst>
          </p:cNvPr>
          <p:cNvSpPr txBox="1"/>
          <p:nvPr/>
        </p:nvSpPr>
        <p:spPr>
          <a:xfrm>
            <a:off x="999254" y="1861712"/>
            <a:ext cx="1328817" cy="4513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1820"/>
              </a:lnSpc>
              <a:spcBef>
                <a:spcPct val="0"/>
              </a:spcBef>
            </a:pPr>
            <a:r>
              <a:rPr lang="en-US" sz="1400" b="1" dirty="0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CC impact in the driver</a:t>
            </a:r>
          </a:p>
        </p:txBody>
      </p:sp>
      <p:sp>
        <p:nvSpPr>
          <p:cNvPr id="21" name="TextBox 15">
            <a:extLst>
              <a:ext uri="{FF2B5EF4-FFF2-40B4-BE49-F238E27FC236}">
                <a16:creationId xmlns:a16="http://schemas.microsoft.com/office/drawing/2014/main" id="{B864D831-415A-373D-3E79-57C70A8BCEEF}"/>
              </a:ext>
            </a:extLst>
          </p:cNvPr>
          <p:cNvSpPr txBox="1"/>
          <p:nvPr/>
        </p:nvSpPr>
        <p:spPr>
          <a:xfrm>
            <a:off x="875210" y="2531510"/>
            <a:ext cx="1529149" cy="5997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1575"/>
              </a:lnSpc>
              <a:spcBef>
                <a:spcPct val="0"/>
              </a:spcBef>
            </a:pPr>
            <a:r>
              <a:rPr lang="en-US" sz="10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projections of ESL based on hydrodynamic modelling or observed data </a:t>
            </a:r>
          </a:p>
        </p:txBody>
      </p:sp>
      <p:sp>
        <p:nvSpPr>
          <p:cNvPr id="23" name="TextBox 16">
            <a:extLst>
              <a:ext uri="{FF2B5EF4-FFF2-40B4-BE49-F238E27FC236}">
                <a16:creationId xmlns:a16="http://schemas.microsoft.com/office/drawing/2014/main" id="{AECF5A9A-6820-6F83-C2E0-8CDC8CB8861F}"/>
              </a:ext>
            </a:extLst>
          </p:cNvPr>
          <p:cNvSpPr txBox="1"/>
          <p:nvPr/>
        </p:nvSpPr>
        <p:spPr>
          <a:xfrm>
            <a:off x="6847128" y="1741135"/>
            <a:ext cx="1522202" cy="6821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1820"/>
              </a:lnSpc>
              <a:spcBef>
                <a:spcPct val="0"/>
              </a:spcBef>
            </a:pPr>
            <a:r>
              <a:rPr lang="en-US" sz="1400" b="1" dirty="0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Adaptation measures and future planning</a:t>
            </a:r>
          </a:p>
        </p:txBody>
      </p:sp>
      <p:sp>
        <p:nvSpPr>
          <p:cNvPr id="25" name="TextBox 17">
            <a:extLst>
              <a:ext uri="{FF2B5EF4-FFF2-40B4-BE49-F238E27FC236}">
                <a16:creationId xmlns:a16="http://schemas.microsoft.com/office/drawing/2014/main" id="{A0B45F29-F69C-F2BC-71E0-257072DA658C}"/>
              </a:ext>
            </a:extLst>
          </p:cNvPr>
          <p:cNvSpPr txBox="1"/>
          <p:nvPr/>
        </p:nvSpPr>
        <p:spPr>
          <a:xfrm>
            <a:off x="6795590" y="2619587"/>
            <a:ext cx="1522202" cy="5997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1575"/>
              </a:lnSpc>
              <a:spcBef>
                <a:spcPct val="0"/>
              </a:spcBef>
            </a:pPr>
            <a:r>
              <a:rPr lang="en-US" sz="10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coastal flood defenses, relocate, retreat, accommodate, etc.</a:t>
            </a:r>
          </a:p>
        </p:txBody>
      </p:sp>
      <p:sp>
        <p:nvSpPr>
          <p:cNvPr id="31" name="TextBox 20">
            <a:extLst>
              <a:ext uri="{FF2B5EF4-FFF2-40B4-BE49-F238E27FC236}">
                <a16:creationId xmlns:a16="http://schemas.microsoft.com/office/drawing/2014/main" id="{97FBD796-CF2A-5B39-B2CF-F1B8792746FF}"/>
              </a:ext>
            </a:extLst>
          </p:cNvPr>
          <p:cNvSpPr txBox="1"/>
          <p:nvPr/>
        </p:nvSpPr>
        <p:spPr>
          <a:xfrm>
            <a:off x="1490131" y="1213029"/>
            <a:ext cx="6118098" cy="389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188"/>
              </a:lnSpc>
            </a:pPr>
            <a:r>
              <a:rPr lang="en-US" sz="2400" b="1" dirty="0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Application towards climate resilient coastline </a:t>
            </a:r>
            <a:endParaRPr lang="en-US" sz="2400" b="1" dirty="0">
              <a:solidFill>
                <a:srgbClr val="000000"/>
              </a:solidFill>
              <a:latin typeface="Bebas Neue Bold"/>
              <a:ea typeface="Bebas Neue Bold"/>
              <a:cs typeface="Bebas Neue Bold"/>
            </a:endParaRPr>
          </a:p>
        </p:txBody>
      </p:sp>
      <p:sp>
        <p:nvSpPr>
          <p:cNvPr id="33" name="TextBox 21">
            <a:extLst>
              <a:ext uri="{FF2B5EF4-FFF2-40B4-BE49-F238E27FC236}">
                <a16:creationId xmlns:a16="http://schemas.microsoft.com/office/drawing/2014/main" id="{88B0C9A7-9283-2BD7-BAFA-97D951C97B5E}"/>
              </a:ext>
            </a:extLst>
          </p:cNvPr>
          <p:cNvSpPr txBox="1"/>
          <p:nvPr/>
        </p:nvSpPr>
        <p:spPr>
          <a:xfrm>
            <a:off x="2932809" y="1751196"/>
            <a:ext cx="1328817" cy="6821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1820"/>
              </a:lnSpc>
              <a:spcBef>
                <a:spcPct val="0"/>
              </a:spcBef>
            </a:pPr>
            <a:r>
              <a:rPr lang="en-US" sz="1400" b="1" dirty="0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Climate change integrated coastal flood maps</a:t>
            </a:r>
          </a:p>
        </p:txBody>
      </p:sp>
      <p:sp>
        <p:nvSpPr>
          <p:cNvPr id="35" name="TextBox 22">
            <a:extLst>
              <a:ext uri="{FF2B5EF4-FFF2-40B4-BE49-F238E27FC236}">
                <a16:creationId xmlns:a16="http://schemas.microsoft.com/office/drawing/2014/main" id="{857ADBC7-917E-5D16-938D-AD63E04E0967}"/>
              </a:ext>
            </a:extLst>
          </p:cNvPr>
          <p:cNvSpPr txBox="1"/>
          <p:nvPr/>
        </p:nvSpPr>
        <p:spPr>
          <a:xfrm>
            <a:off x="2860044" y="2509108"/>
            <a:ext cx="1522107" cy="12153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1575"/>
              </a:lnSpc>
              <a:spcBef>
                <a:spcPct val="0"/>
              </a:spcBef>
            </a:pPr>
            <a:r>
              <a:rPr lang="en-US" sz="10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coastal flood maps</a:t>
            </a:r>
          </a:p>
          <a:p>
            <a:pPr marL="0" lvl="0" indent="0" algn="ctr">
              <a:lnSpc>
                <a:spcPts val="1575"/>
              </a:lnSpc>
              <a:spcBef>
                <a:spcPct val="0"/>
              </a:spcBef>
            </a:pPr>
            <a:r>
              <a:rPr lang="en-US" sz="10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forced by ESL projections and based on high resolution elevation models  (Fully dynamic coastal flood modeling (SFINCS))</a:t>
            </a:r>
          </a:p>
        </p:txBody>
      </p:sp>
      <p:grpSp>
        <p:nvGrpSpPr>
          <p:cNvPr id="24" name="Group 5">
            <a:extLst>
              <a:ext uri="{FF2B5EF4-FFF2-40B4-BE49-F238E27FC236}">
                <a16:creationId xmlns:a16="http://schemas.microsoft.com/office/drawing/2014/main" id="{C2914425-866F-477A-BE17-BFF899C0F16C}"/>
              </a:ext>
            </a:extLst>
          </p:cNvPr>
          <p:cNvGrpSpPr/>
          <p:nvPr/>
        </p:nvGrpSpPr>
        <p:grpSpPr>
          <a:xfrm>
            <a:off x="4739830" y="1569714"/>
            <a:ext cx="1725787" cy="2562895"/>
            <a:chOff x="0" y="-38100"/>
            <a:chExt cx="909057" cy="1350002"/>
          </a:xfrm>
        </p:grpSpPr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EB235757-8C61-458E-9366-E339E4F203B9}"/>
                </a:ext>
              </a:extLst>
            </p:cNvPr>
            <p:cNvSpPr/>
            <p:nvPr/>
          </p:nvSpPr>
          <p:spPr>
            <a:xfrm>
              <a:off x="0" y="0"/>
              <a:ext cx="909057" cy="1311902"/>
            </a:xfrm>
            <a:custGeom>
              <a:avLst/>
              <a:gdLst/>
              <a:ahLst/>
              <a:cxnLst/>
              <a:rect l="l" t="t" r="r" b="b"/>
              <a:pathLst>
                <a:path w="909057" h="1311902">
                  <a:moveTo>
                    <a:pt x="76262" y="0"/>
                  </a:moveTo>
                  <a:lnTo>
                    <a:pt x="832794" y="0"/>
                  </a:lnTo>
                  <a:cubicBezTo>
                    <a:pt x="874913" y="0"/>
                    <a:pt x="909057" y="34144"/>
                    <a:pt x="909057" y="76262"/>
                  </a:cubicBezTo>
                  <a:lnTo>
                    <a:pt x="909057" y="1235640"/>
                  </a:lnTo>
                  <a:cubicBezTo>
                    <a:pt x="909057" y="1277758"/>
                    <a:pt x="874913" y="1311902"/>
                    <a:pt x="832794" y="1311902"/>
                  </a:cubicBezTo>
                  <a:lnTo>
                    <a:pt x="76262" y="1311902"/>
                  </a:lnTo>
                  <a:cubicBezTo>
                    <a:pt x="34144" y="1311902"/>
                    <a:pt x="0" y="1277758"/>
                    <a:pt x="0" y="1235640"/>
                  </a:cubicBezTo>
                  <a:lnTo>
                    <a:pt x="0" y="76262"/>
                  </a:lnTo>
                  <a:cubicBezTo>
                    <a:pt x="0" y="34144"/>
                    <a:pt x="34144" y="0"/>
                    <a:pt x="76262" y="0"/>
                  </a:cubicBezTo>
                  <a:close/>
                </a:path>
              </a:pathLst>
            </a:custGeom>
            <a:solidFill>
              <a:srgbClr val="CADD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FC2367C-1B8C-4642-BADD-9BA5D2A4DD0F}"/>
                </a:ext>
              </a:extLst>
            </p:cNvPr>
            <p:cNvSpPr txBox="1"/>
            <p:nvPr/>
          </p:nvSpPr>
          <p:spPr>
            <a:xfrm>
              <a:off x="0" y="-38100"/>
              <a:ext cx="909057" cy="1350002"/>
            </a:xfrm>
            <a:prstGeom prst="rect">
              <a:avLst/>
            </a:prstGeom>
          </p:spPr>
          <p:txBody>
            <a:bodyPr lIns="25400" tIns="25400" rIns="25400" bIns="2540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1330"/>
                </a:lnSpc>
                <a:spcBef>
                  <a:spcPct val="0"/>
                </a:spcBef>
              </a:pPr>
              <a:endParaRPr sz="450"/>
            </a:p>
          </p:txBody>
        </p:sp>
      </p:grpSp>
      <p:sp>
        <p:nvSpPr>
          <p:cNvPr id="30" name="TextBox 16">
            <a:extLst>
              <a:ext uri="{FF2B5EF4-FFF2-40B4-BE49-F238E27FC236}">
                <a16:creationId xmlns:a16="http://schemas.microsoft.com/office/drawing/2014/main" id="{AE57E965-248A-423A-BC52-78CA0430C2E1}"/>
              </a:ext>
            </a:extLst>
          </p:cNvPr>
          <p:cNvSpPr txBox="1"/>
          <p:nvPr/>
        </p:nvSpPr>
        <p:spPr>
          <a:xfrm>
            <a:off x="4841623" y="1734047"/>
            <a:ext cx="1522202" cy="4513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1820"/>
              </a:lnSpc>
              <a:spcBef>
                <a:spcPct val="0"/>
              </a:spcBef>
            </a:pPr>
            <a:r>
              <a:rPr lang="en-US" sz="1400" b="1" dirty="0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coastal flood risk assessment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061249B-DBC5-488D-9B8C-A669A661AC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277" t="17310" r="15827" b="9552"/>
          <a:stretch/>
        </p:blipFill>
        <p:spPr>
          <a:xfrm>
            <a:off x="4797710" y="2521123"/>
            <a:ext cx="1610026" cy="1401832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B32EB972-1716-493D-9A74-2D6A47828B3B}"/>
              </a:ext>
            </a:extLst>
          </p:cNvPr>
          <p:cNvSpPr/>
          <p:nvPr/>
        </p:nvSpPr>
        <p:spPr>
          <a:xfrm>
            <a:off x="2428237" y="2669832"/>
            <a:ext cx="407929" cy="2406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43198DB3-CC1E-49F2-959F-B8E2CE09F887}"/>
              </a:ext>
            </a:extLst>
          </p:cNvPr>
          <p:cNvSpPr/>
          <p:nvPr/>
        </p:nvSpPr>
        <p:spPr>
          <a:xfrm>
            <a:off x="4409816" y="2701916"/>
            <a:ext cx="407929" cy="2406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6697FC52-D4A3-4BDA-B828-C16B91AFB3A4}"/>
              </a:ext>
            </a:extLst>
          </p:cNvPr>
          <p:cNvSpPr/>
          <p:nvPr/>
        </p:nvSpPr>
        <p:spPr>
          <a:xfrm>
            <a:off x="6387661" y="2722616"/>
            <a:ext cx="407929" cy="2406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49030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7FD8BE9E-1314-4AC8-AC38-4DFB97E73092}"/>
              </a:ext>
            </a:extLst>
          </p:cNvPr>
          <p:cNvSpPr txBox="1"/>
          <p:nvPr/>
        </p:nvSpPr>
        <p:spPr>
          <a:xfrm>
            <a:off x="351519" y="2375892"/>
            <a:ext cx="3059469" cy="5201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4040"/>
              </a:lnSpc>
            </a:pPr>
            <a:r>
              <a:rPr lang="en-US" sz="4000" b="1" dirty="0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Thank you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623FCA-AC3A-4ADC-B3B3-E167A1407E5C}"/>
              </a:ext>
            </a:extLst>
          </p:cNvPr>
          <p:cNvSpPr txBox="1"/>
          <p:nvPr/>
        </p:nvSpPr>
        <p:spPr>
          <a:xfrm>
            <a:off x="185675" y="2908817"/>
            <a:ext cx="2723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Contact: k.nawarat@un-ihe.org</a:t>
            </a:r>
          </a:p>
        </p:txBody>
      </p:sp>
      <p:pic>
        <p:nvPicPr>
          <p:cNvPr id="32" name="Picture 4" descr="The scientific consensus on climate change gets even stronger – Monash Lens">
            <a:extLst>
              <a:ext uri="{FF2B5EF4-FFF2-40B4-BE49-F238E27FC236}">
                <a16:creationId xmlns:a16="http://schemas.microsoft.com/office/drawing/2014/main" id="{4488AA56-2A83-4776-9C2E-5EFE6E12D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5088" y="1645587"/>
            <a:ext cx="5406427" cy="2675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95258316-2118-459D-8291-2AA6D3FB327F}"/>
              </a:ext>
            </a:extLst>
          </p:cNvPr>
          <p:cNvSpPr/>
          <p:nvPr/>
        </p:nvSpPr>
        <p:spPr>
          <a:xfrm rot="4374085">
            <a:off x="2864870" y="880815"/>
            <a:ext cx="1253007" cy="1529545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3BDC7E8D-7AA7-4328-83E9-5F05C423E2A2}"/>
              </a:ext>
            </a:extLst>
          </p:cNvPr>
          <p:cNvSpPr/>
          <p:nvPr/>
        </p:nvSpPr>
        <p:spPr>
          <a:xfrm rot="15103423">
            <a:off x="7384988" y="3677029"/>
            <a:ext cx="1247645" cy="1730821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0904050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_UNESCO-IHE">
  <a:themeElements>
    <a:clrScheme name="Custom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00004B"/>
      </a:accent1>
      <a:accent2>
        <a:srgbClr val="005576"/>
      </a:accent2>
      <a:accent3>
        <a:srgbClr val="28AC8A"/>
      </a:accent3>
      <a:accent4>
        <a:srgbClr val="009FEE"/>
      </a:accent4>
      <a:accent5>
        <a:srgbClr val="808080"/>
      </a:accent5>
      <a:accent6>
        <a:srgbClr val="F79646"/>
      </a:accent6>
      <a:hlink>
        <a:srgbClr val="00004B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1319</TotalTime>
  <Words>673</Words>
  <Application>Microsoft Macintosh PowerPoint</Application>
  <PresentationFormat>On-screen Show (16:9)</PresentationFormat>
  <Paragraphs>129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9" baseType="lpstr">
      <vt:lpstr>arial</vt:lpstr>
      <vt:lpstr>arial</vt:lpstr>
      <vt:lpstr>Bebas Neue Bold</vt:lpstr>
      <vt:lpstr>Calibri</vt:lpstr>
      <vt:lpstr>Courier New</vt:lpstr>
      <vt:lpstr>Harding</vt:lpstr>
      <vt:lpstr>Merriweather Sans</vt:lpstr>
      <vt:lpstr>Montserrat</vt:lpstr>
      <vt:lpstr>Montserrat Classic</vt:lpstr>
      <vt:lpstr>Montserrat Classic Bold</vt:lpstr>
      <vt:lpstr>Wingdings</vt:lpstr>
      <vt:lpstr>Presentation_UNESCO-IHE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Rachelle Dwarka</dc:creator>
  <cp:lastModifiedBy>Microsoft Office User</cp:lastModifiedBy>
  <cp:revision>129</cp:revision>
  <cp:lastPrinted>2022-07-05T14:02:11Z</cp:lastPrinted>
  <dcterms:modified xsi:type="dcterms:W3CDTF">2026-04-10T12:27:42Z</dcterms:modified>
</cp:coreProperties>
</file>